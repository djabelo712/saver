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Repères de Cohen</c:v>
                </c:pt>
              </c:strCache>
            </c:strRef>
          </c:tx>
          <c:spPr>
            <a:solidFill>
              <a:srgbClr val="8A959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Effet faible</c:v>
                  </c:pt>
                  <c:pt idx="1">
                    <c:v>Effet modéré</c:v>
                  </c:pt>
                  <c:pt idx="2">
                    <c:v>Effet fort</c:v>
                  </c:pt>
                  <c:pt idx="3">
                    <c:v>Laboratoires virtuels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Méta-analyse 2024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Effet faible</c:v>
                  </c:pt>
                  <c:pt idx="1">
                    <c:v>Effet modéré</c:v>
                  </c:pt>
                  <c:pt idx="2">
                    <c:v>Effet fort</c:v>
                  </c:pt>
                  <c:pt idx="3">
                    <c:v>Laboratoires virtuels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0.686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05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DE8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8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Pilote</c:v>
                </c:pt>
              </c:strCache>
            </c:strRef>
          </c:tx>
          <c:spPr>
            <a:solidFill>
              <a:srgbClr val="8A959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/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Extension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/>
                </c:pt>
                <c:pt idx="1">
                  <c:v>300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</c:v>
                </c:pt>
              </c:strCache>
            </c:strRef>
          </c:tx>
          <c:spPr>
            <a:solidFill>
              <a:srgbClr val="E0592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/>
                </c:pt>
                <c:pt idx="1">
                  <c:v/>
                </c:pt>
                <c:pt idx="2">
                  <c:v>800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20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annuel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&quot; 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33B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</c:ser>
        <c:dLbls>
          <c:numFmt formatCode="0&quot; 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2333B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33B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5.png"/><Relationship Id="rId8" Type="http://schemas.openxmlformats.org/officeDocument/2006/relationships/image" Target="../media/image-4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5955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71323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VirtuLab Togo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64208"/>
            <a:ext cx="4709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50" i="1" dirty="0">
                <a:solidFill>
                  <a:srgbClr val="DCE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nationale de travaux pratiques virtuels</a:t>
            </a:r>
            <a:endParaRPr lang="en-US" sz="17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50" i="1" dirty="0">
                <a:solidFill>
                  <a:srgbClr val="DCEB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 collège et le lycée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0292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3949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05740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09397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MATIÈRES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611880" y="2871216"/>
            <a:ext cx="1444752" cy="896112"/>
          </a:xfrm>
          <a:prstGeom prst="roundRect">
            <a:avLst>
              <a:gd name="adj" fmla="val 9184"/>
            </a:avLst>
          </a:prstGeom>
          <a:solidFill>
            <a:srgbClr val="FFFFFF">
              <a:alpha val="13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962656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6e · Tle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48456" y="33832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80" b="1" spc="120" kern="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 ET LYCÉE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133088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Présenté au Professeur ATCHONOUGLO Kossi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79145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Directeur de la DSRI · Université de Lomé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5229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DJABON Ounimborbititou   ·   HOUNKPE Mawulikpimi Roland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815584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Université de Lomé   ·   AIMS Ghana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08990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Septembre 2026</a:t>
            </a:r>
            <a:endParaRPr lang="en-US" sz="1000" dirty="0"/>
          </a:p>
        </p:txBody>
      </p:sp>
      <p:pic>
        <p:nvPicPr>
          <p:cNvPr id="19" name="Image 0" descr="/home/z/my-project/assets/deck_v2/cover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0"/>
            <a:ext cx="6629400" cy="4261104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59552" y="4261104"/>
            <a:ext cx="6629400" cy="45720"/>
          </a:xfrm>
          <a:prstGeom prst="rect">
            <a:avLst/>
          </a:prstGeom>
          <a:solidFill>
            <a:srgbClr val="F5F2E9"/>
          </a:solidFill>
          <a:ln/>
        </p:spPr>
      </p:sp>
      <p:pic>
        <p:nvPicPr>
          <p:cNvPr id="21" name="Image 1" descr="/home/z/my-project/assets/deck_v2/cover_la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4306824"/>
            <a:ext cx="662940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GlobeAfr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CONTEXTE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école qui grandit vite, des TP restés au tableau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700784"/>
            <a:ext cx="5394960" cy="3621024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18653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Collèges et lycées publics · Togo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9392" y="186537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F8E4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79392" y="186537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×3 en 13 ans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2560320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645920" y="2560320"/>
            <a:ext cx="953733" cy="658368"/>
          </a:xfrm>
          <a:prstGeom prst="roundRect">
            <a:avLst>
              <a:gd name="adj" fmla="val 9722"/>
            </a:avLst>
          </a:prstGeom>
          <a:solidFill>
            <a:srgbClr val="8A959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36229" y="25603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E7B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294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3584448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45920" y="3584448"/>
            <a:ext cx="2926080" cy="658368"/>
          </a:xfrm>
          <a:prstGeom prst="roundRect">
            <a:avLst>
              <a:gd name="adj" fmla="val 9722"/>
            </a:avLst>
          </a:prstGeom>
          <a:solidFill>
            <a:srgbClr val="0E7C7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08576" y="358444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902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713232" y="4572000"/>
            <a:ext cx="4882896" cy="566928"/>
          </a:xfrm>
          <a:prstGeom prst="roundRect">
            <a:avLst>
              <a:gd name="adj" fmla="val 12903"/>
            </a:avLst>
          </a:prstGeom>
          <a:solidFill>
            <a:srgbClr val="F8E4D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9536" y="4572000"/>
            <a:ext cx="4590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608 créés depuis 2011, souvent en zones rurales, sans salle de sciences ni matériel.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89904" y="1700784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9904" y="1700784"/>
            <a:ext cx="82296" cy="113385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27648" y="1810512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915 214</a:t>
            </a:r>
            <a:endParaRPr lang="en-US" sz="2700" dirty="0"/>
          </a:p>
        </p:txBody>
      </p:sp>
      <p:sp>
        <p:nvSpPr>
          <p:cNvPr id="22" name="Text 19"/>
          <p:cNvSpPr txBox="1"/>
          <p:nvPr/>
        </p:nvSpPr>
        <p:spPr>
          <a:xfrm>
            <a:off x="8302752" y="1792224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élèves du secondaire, public et privé, concernés par la réforme des TP.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302752" y="2523744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mondiale et ISU, 2023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089904" y="2944368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89904" y="2944368"/>
            <a:ext cx="82296" cy="113385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327648" y="3054096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90 %</a:t>
            </a:r>
            <a:endParaRPr lang="en-US" sz="2700" dirty="0"/>
          </a:p>
        </p:txBody>
      </p:sp>
      <p:sp>
        <p:nvSpPr>
          <p:cNvPr id="27" name="Text 24"/>
          <p:cNvSpPr txBox="1"/>
          <p:nvPr/>
        </p:nvSpPr>
        <p:spPr>
          <a:xfrm>
            <a:off x="8302752" y="3035808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écoles du Togo n'ont pas de laboratoire : les TP restent théoriques.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302752" y="3767328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GPE · récit MOBILELABO, 2019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89904" y="4187952"/>
            <a:ext cx="5614416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9904" y="4187952"/>
            <a:ext cx="82296" cy="113385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27648" y="42976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33,9 %</a:t>
            </a:r>
            <a:endParaRPr lang="en-US" sz="2700" dirty="0"/>
          </a:p>
        </p:txBody>
      </p:sp>
      <p:sp>
        <p:nvSpPr>
          <p:cNvPr id="32" name="Text 29"/>
          <p:cNvSpPr txBox="1"/>
          <p:nvPr/>
        </p:nvSpPr>
        <p:spPr>
          <a:xfrm>
            <a:off x="8302752" y="4279392"/>
            <a:ext cx="3163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d'électrification en zones rurales : un laboratoire ne s'allume pas.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302752" y="5010912"/>
            <a:ext cx="3163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mondiale, 2024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5614416"/>
            <a:ext cx="11247120" cy="658368"/>
          </a:xfrm>
          <a:prstGeom prst="roundRect">
            <a:avLst>
              <a:gd name="adj" fmla="val 12500"/>
            </a:avLst>
          </a:prstGeom>
          <a:solidFill>
            <a:srgbClr val="0A5C5B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31520" y="561441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BEPC et le baccalauréat interrogent chaque année des manipulations que la majorité des élèves n'a jamais pratiquées.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ministère de l'Éducation nationale, Togo (2024) ; Banque mondiale et Institut de statistique de l'UNESCO (2023) ; GPE, récit MOBILELABO (2019).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MapMarker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EN CHIFFRES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Équiper physiquement le pays : au moins 2,4 milliards FCFA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773936"/>
            <a:ext cx="5074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773936"/>
            <a:ext cx="5971032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" y="1901952"/>
            <a:ext cx="4636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coûte un laboratoire, en vrai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2286000"/>
            <a:ext cx="14813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234086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02152" y="2368296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F8E4D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02152" y="236829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COMPLET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76656" y="2798064"/>
            <a:ext cx="4636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Rénovation et équipement complets du laboratoire du lycée de Tsévié 1 : paillasses, eau, verrerie, électricité.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3328416"/>
            <a:ext cx="4636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 réel constaté au Togo · UNICEF, janvier 2025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76656" y="3602736"/>
            <a:ext cx="4636008" cy="12802"/>
          </a:xfrm>
          <a:prstGeom prst="rect">
            <a:avLst/>
          </a:prstGeom>
          <a:solidFill>
            <a:srgbClr val="EDE8D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76656" y="3712464"/>
            <a:ext cx="14813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 M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2084832" y="376732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19272" y="379476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319272" y="379476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FORMULE MINIMALE « KITS »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76656" y="4224528"/>
            <a:ext cx="4636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Salle existante : mobilier local ≈ 1 M · kits physique-chimie et verrerie ≈ 1,2 M · SVT (microscopes, modèles) ≈ 0,8 M.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76656" y="4754880"/>
            <a:ext cx="4636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Formule reconstituée d'après les prix du marché togolais (kits MOBILELABO, mobilier local).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76656" y="4974336"/>
            <a:ext cx="463600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l'équipement n'est pas la fin : consommables et remplacement peuvent ajouter jusqu'à 60 % du capital initial (UNESCO).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80176" y="19019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facture nationale, du minimum au standard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80176" y="2212848"/>
            <a:ext cx="5532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 établissements publics × ≈ 90 % sans laboratoire ≈ 810 à équiper.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98464" y="254203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F8E4D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98464" y="2615184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810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035040" y="303580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établissements à équiper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205472" y="2542032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B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7406640" y="2542032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F8E4D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06640" y="2615184"/>
            <a:ext cx="1207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 M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7434072" y="3035808"/>
            <a:ext cx="11521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 par labo (minimum)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8613648" y="2542032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B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8814816" y="2542032"/>
            <a:ext cx="2679192" cy="822960"/>
          </a:xfrm>
          <a:prstGeom prst="roundRect">
            <a:avLst>
              <a:gd name="adj" fmla="val 8889"/>
            </a:avLst>
          </a:prstGeom>
          <a:solidFill>
            <a:srgbClr val="E0592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814816" y="2615184"/>
            <a:ext cx="2679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2,4 milliards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8814816" y="3035808"/>
            <a:ext cx="26791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FCFA · minimum national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5998464" y="3456432"/>
            <a:ext cx="5495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standard complet (12 M par labo) : </a:t>
            </a:r>
            <a:pPr algn="l" indent="0" marL="0">
              <a:buNone/>
            </a:pPr>
            <a:r>
              <a:rPr lang="en-US" sz="10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810 × 12 M ≈ 9,7 milliards.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998464" y="3712464"/>
            <a:ext cx="5495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face : le déploiement VirtuLab sur trois ans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998464" y="3986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complet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046720" y="4027932"/>
            <a:ext cx="2203704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41" name="Shape 38"/>
          <p:cNvSpPr/>
          <p:nvPr/>
        </p:nvSpPr>
        <p:spPr>
          <a:xfrm>
            <a:off x="8046720" y="4027932"/>
            <a:ext cx="2203704" cy="173736"/>
          </a:xfrm>
          <a:prstGeom prst="roundRect">
            <a:avLst>
              <a:gd name="adj" fmla="val 50000"/>
            </a:avLst>
          </a:prstGeom>
          <a:solidFill>
            <a:srgbClr val="8A959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323576" y="39867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 Md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998464" y="4370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« kits »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046720" y="4411980"/>
            <a:ext cx="2203704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45" name="Shape 42"/>
          <p:cNvSpPr/>
          <p:nvPr/>
        </p:nvSpPr>
        <p:spPr>
          <a:xfrm>
            <a:off x="8046720" y="4411980"/>
            <a:ext cx="550926" cy="173736"/>
          </a:xfrm>
          <a:prstGeom prst="roundRect">
            <a:avLst>
              <a:gd name="adj" fmla="val 50000"/>
            </a:avLst>
          </a:prstGeom>
          <a:solidFill>
            <a:srgbClr val="E0592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0323576" y="43708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 Md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998464" y="4754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VirtuLab · 3 ans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046720" y="4796028"/>
            <a:ext cx="2203704" cy="173736"/>
          </a:xfrm>
          <a:prstGeom prst="roundRect">
            <a:avLst>
              <a:gd name="adj" fmla="val 50000"/>
            </a:avLst>
          </a:prstGeom>
          <a:solidFill>
            <a:srgbClr val="EDE8DA"/>
          </a:solidFill>
          <a:ln/>
        </p:spPr>
      </p:sp>
      <p:sp>
        <p:nvSpPr>
          <p:cNvPr id="49" name="Shape 46"/>
          <p:cNvSpPr/>
          <p:nvPr/>
        </p:nvSpPr>
        <p:spPr>
          <a:xfrm>
            <a:off x="8046720" y="4796028"/>
            <a:ext cx="109728" cy="173736"/>
          </a:xfrm>
          <a:prstGeom prst="roundRect">
            <a:avLst>
              <a:gd name="adj" fmla="val 79167"/>
            </a:avLst>
          </a:prstGeom>
          <a:solidFill>
            <a:srgbClr val="0E7C7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0323576" y="47548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 M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5998464" y="5157216"/>
            <a:ext cx="5495544" cy="384048"/>
          </a:xfrm>
          <a:prstGeom prst="roundRect">
            <a:avLst>
              <a:gd name="adj" fmla="val 21429"/>
            </a:avLst>
          </a:prstGeom>
          <a:solidFill>
            <a:srgbClr val="DCEBEA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6163056" y="515721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Équiper physiquement coûte de 8 à 33 fois le budget VirtuLab.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457200" y="5614416"/>
            <a:ext cx="11247120" cy="658368"/>
          </a:xfrm>
          <a:prstGeom prst="roundRect">
            <a:avLst>
              <a:gd name="adj" fmla="val 12500"/>
            </a:avLst>
          </a:prstGeom>
          <a:solidFill>
            <a:srgbClr val="0A5C5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31520" y="561441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Même frugale, la facture dépasse 2,4 milliards : hors salles, hors courant, et deux tiers des zones rurales sans électricité.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UNICEF Togo, rénovation du laboratoire du lycée de Tsévié 1 (2025) ; GPE, récit MOBILELABO (2019) ; MENA Togo (2024) ; UNESCO, Science kits in developing countries.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A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VirtuLab Togo : le laboratoire dans chaque poche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6642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Gratuite, publique et hors ligne : 120 simulateurs alignés sur les programmes officiels, du collège au lycée.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E7C7B"/>
          </a:solidFill>
          <a:ln/>
        </p:spPr>
      </p:sp>
      <p:pic>
        <p:nvPicPr>
          <p:cNvPr id="10" name="Image 1" descr="/home/z/my-project/assets/deck_v2/fa_FaA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5648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4600" y="2432304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TP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9494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Physique-chimie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Circuits, optique, mécanique, dosage des solutions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7482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1256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0592A"/>
          </a:solidFill>
          <a:ln/>
        </p:spPr>
      </p:sp>
      <p:pic>
        <p:nvPicPr>
          <p:cNvPr id="16" name="Image 2" descr="/home/z/my-project/assets/deck_v2/fa_Fa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648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32220" y="2432304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TP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51256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SVT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451256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Cellule, génétique, écosystèmes, nutrition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92440" y="21762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30184" y="24140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959B"/>
          </a:solidFill>
          <a:ln/>
        </p:spPr>
      </p:sp>
      <p:pic>
        <p:nvPicPr>
          <p:cNvPr id="22" name="Image 3" descr="/home/z/my-project/assets/deck_v2/fa_FaSquareRoot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256489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149840" y="2432304"/>
            <a:ext cx="1316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TP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330184" y="31272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Mathématiques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8330184" y="3529584"/>
            <a:ext cx="31363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Fonctions, géométrie dynamique, statistiques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4498848"/>
            <a:ext cx="1124712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13232" y="460857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6e à la terminale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246120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246120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4215384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215384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184648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5184648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4e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153912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DCEBE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153912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3e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123176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123176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2de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092440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092440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1re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9061704" y="4681728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F8E4D9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9061704" y="4681728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Tle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3246120" y="51937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COLLÈGE</a:t>
            </a:r>
            <a:endParaRPr lang="en-US" sz="850" dirty="0"/>
          </a:p>
        </p:txBody>
      </p:sp>
      <p:sp>
        <p:nvSpPr>
          <p:cNvPr id="43" name="Text 37"/>
          <p:cNvSpPr txBox="1"/>
          <p:nvPr/>
        </p:nvSpPr>
        <p:spPr>
          <a:xfrm>
            <a:off x="7123176" y="5193792"/>
            <a:ext cx="2779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059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LYCÉE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45720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45" name="Image 4" descr="/home/z/my-project/assets/deck_v2/fa_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925312"/>
            <a:ext cx="201168" cy="20116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9611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 pour tous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330708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48" name="Image 5" descr="/home/z/my-project/assets/deck_v2/fa_Fa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960" y="5925312"/>
            <a:ext cx="201168" cy="201168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374599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Hors ligne d'abord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615696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51" name="Image 6" descr="/home/z/my-project/assets/deck_v2/fa_Fa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840" y="5925312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59587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Aligné TP par TP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9006840" y="5797296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54" name="Image 7" descr="/home/z/my-project/assets/deck_v2/fa_Fa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5925312"/>
            <a:ext cx="201168" cy="20116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445752" y="57972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classe et élève</a:t>
            </a:r>
            <a:endParaRPr lang="en-US" sz="1150" dirty="0"/>
          </a:p>
        </p:txBody>
      </p:sp>
      <p:sp>
        <p:nvSpPr>
          <p:cNvPr id="56" name="Text 4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ÇA MARCHE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étapes, du programme officiel à la classe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5296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9" name="Image 1" descr="/home/z/my-project/assets/deck_v2/fa_Fa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87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21792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TP du programme cartographiés avec les inspecteurs.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0080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Cartographie des TP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530602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16" name="Shape 12"/>
          <p:cNvSpPr/>
          <p:nvPr/>
        </p:nvSpPr>
        <p:spPr>
          <a:xfrm>
            <a:off x="2738628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06724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18" name="Image 2" descr="/home/z/my-project/assets/deck_v2/fa_FaPencilRul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24871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738628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2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2738628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Concevoir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2903220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Scénario pédagogique : objectif, pièges, quiz type examen.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921508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2921508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Fiches pédagogiques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812030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25" name="Shape 20"/>
          <p:cNvSpPr/>
          <p:nvPr/>
        </p:nvSpPr>
        <p:spPr>
          <a:xfrm>
            <a:off x="5020056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788152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27" name="Image 3" descr="/home/z/my-project/assets/deck_v2/fa_Fa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48716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020056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3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020056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Développer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5184648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HTML5, 1 à 3 Mo par TP, conçu pour tourner hors ligne.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202936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202936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Simulateurs HTML5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093458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34" name="Shape 28"/>
          <p:cNvSpPr/>
          <p:nvPr/>
        </p:nvSpPr>
        <p:spPr>
          <a:xfrm>
            <a:off x="7301484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069580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/>
        </p:spPr>
      </p:sp>
      <p:pic>
        <p:nvPicPr>
          <p:cNvPr id="36" name="Image 4" descr="/home/z/my-project/assets/deck_v2/fa_FaCheck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884" y="2487168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301484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4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7301484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7466076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revue : comité scientifique et inspecteurs.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484364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484364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 validé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9374886" y="3364992"/>
            <a:ext cx="256032" cy="219456"/>
          </a:xfrm>
          <a:prstGeom prst="chevron">
            <a:avLst/>
          </a:prstGeom>
          <a:solidFill>
            <a:srgbClr val="8A959B"/>
          </a:solidFill>
          <a:ln/>
        </p:spPr>
      </p:sp>
      <p:sp>
        <p:nvSpPr>
          <p:cNvPr id="43" name="Shape 36"/>
          <p:cNvSpPr/>
          <p:nvPr/>
        </p:nvSpPr>
        <p:spPr>
          <a:xfrm>
            <a:off x="9582912" y="210312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351008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0592A"/>
          </a:solidFill>
          <a:ln/>
        </p:spPr>
      </p:sp>
      <p:pic>
        <p:nvPicPr>
          <p:cNvPr id="45" name="Image 5" descr="/home/z/my-project/assets/deck_v2/fa_Fa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2487168"/>
            <a:ext cx="292608" cy="29260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9582912" y="30358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5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9582912" y="32735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Déployer</a:t>
            </a:r>
            <a:endParaRPr lang="en-US" sz="1450" dirty="0"/>
          </a:p>
        </p:txBody>
      </p:sp>
      <p:sp>
        <p:nvSpPr>
          <p:cNvPr id="48" name="Text 40"/>
          <p:cNvSpPr txBox="1"/>
          <p:nvPr/>
        </p:nvSpPr>
        <p:spPr>
          <a:xfrm>
            <a:off x="9747504" y="3639312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mesuré en classe, catalogue recalibré.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9765792" y="4334256"/>
            <a:ext cx="1755648" cy="329184"/>
          </a:xfrm>
          <a:prstGeom prst="roundRect">
            <a:avLst>
              <a:gd name="adj" fmla="val 50000"/>
            </a:avLst>
          </a:prstGeom>
          <a:solidFill>
            <a:srgbClr val="F8E4D9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9765792" y="433425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d'usage</a:t>
            </a:r>
            <a:endParaRPr lang="en-US" sz="8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956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Boucle de recalibrage : les données d'usage indiquent quels contenus manquent et quoi développer ensuite.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457200" y="5632704"/>
            <a:ext cx="11247120" cy="54864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731520" y="563270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simulateur arrive avec sa fiche pédagogique, son protocole de séance prêt à l'emploi et son quiz-jeu d'évaluation.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SOCLE TECHNIQUE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qui fonctionne sans réseau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63040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9" name="Image 1" descr="/home/z/my-project/assets/deck_v2/fa_Fa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3055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2064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PROGRAMME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Fiche, protocole et quiz-jeu pour chaque séance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041904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13" name="Shape 9"/>
          <p:cNvSpPr/>
          <p:nvPr/>
        </p:nvSpPr>
        <p:spPr>
          <a:xfrm>
            <a:off x="3377184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83024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15" name="Image 2" descr="/home/z/my-project/assets/deck_v2/fa_Fa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13055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32048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SIMULATEURS HTML5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3523488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à 3 Mo par TP, fluides sur PC et smartphone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61888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19" name="Shape 14"/>
          <p:cNvSpPr/>
          <p:nvPr/>
        </p:nvSpPr>
        <p:spPr>
          <a:xfrm>
            <a:off x="6297168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03008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0592A"/>
          </a:solidFill>
          <a:ln/>
        </p:spPr>
      </p:sp>
      <p:pic>
        <p:nvPicPr>
          <p:cNvPr id="21" name="Image 3" descr="/home/z/my-project/assets/deck_v2/md_MdWifi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80" y="213055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2032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WEB PROGRESSIVE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443472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 entier en cache local, sync différée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881872" y="2560320"/>
            <a:ext cx="237744" cy="201168"/>
          </a:xfrm>
          <a:prstGeom prst="chevron">
            <a:avLst/>
          </a:prstGeom>
          <a:solidFill>
            <a:srgbClr val="0E7C7B"/>
          </a:solidFill>
          <a:ln/>
        </p:spPr>
      </p:sp>
      <p:sp>
        <p:nvSpPr>
          <p:cNvPr id="25" name="Shape 19"/>
          <p:cNvSpPr/>
          <p:nvPr/>
        </p:nvSpPr>
        <p:spPr>
          <a:xfrm>
            <a:off x="9217152" y="1847088"/>
            <a:ext cx="2487168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22992" y="2011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E7C7B"/>
          </a:solidFill>
          <a:ln/>
        </p:spPr>
      </p:sp>
      <p:pic>
        <p:nvPicPr>
          <p:cNvPr id="27" name="Image 4" descr="/home/z/my-project/assets/deck_v2/fa_FaChalkboardTeac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864" y="2130552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272016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 ET MAISON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9363456" y="281635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Projeté en classe, rejoué librement à la maison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712464"/>
            <a:ext cx="11247120" cy="859536"/>
          </a:xfrm>
          <a:prstGeom prst="roundRect">
            <a:avLst>
              <a:gd name="adj" fmla="val 9574"/>
            </a:avLst>
          </a:prstGeom>
          <a:solidFill>
            <a:srgbClr val="EDE8DA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94944" y="378561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spc="15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TROIS CHEMINS</a:t>
            </a:r>
            <a:endParaRPr lang="en-US" sz="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b="1" spc="15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JUSQU'À LA CLASSE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566160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657600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34" name="Image 5" descr="/home/z/my-project/assets/deck_v2/fa_Fa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4055364"/>
            <a:ext cx="173736" cy="17373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041648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international + miroir national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281928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73368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38" name="Image 6" descr="/home/z/my-project/assets/deck_v2/fa_FaUs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4055364"/>
            <a:ext cx="173736" cy="17373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757416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 hors ligne : clé USB ou réseau local</a:t>
            </a:r>
            <a:endParaRPr lang="en-US" sz="980" dirty="0"/>
          </a:p>
        </p:txBody>
      </p:sp>
      <p:sp>
        <p:nvSpPr>
          <p:cNvPr id="40" name="Shape 31"/>
          <p:cNvSpPr/>
          <p:nvPr/>
        </p:nvSpPr>
        <p:spPr>
          <a:xfrm>
            <a:off x="8997696" y="3858768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089136" y="3986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C7B"/>
          </a:solidFill>
          <a:ln/>
        </p:spPr>
      </p:sp>
      <p:pic>
        <p:nvPicPr>
          <p:cNvPr id="42" name="Image 7" descr="/home/z/my-project/assets/deck_v2/fa_FaSolarPan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716" y="4055364"/>
            <a:ext cx="173736" cy="17373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473184" y="3858768"/>
            <a:ext cx="2039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 + kit solaire, même sans électricité</a:t>
            </a:r>
            <a:endParaRPr lang="en-US" sz="980" dirty="0"/>
          </a:p>
        </p:txBody>
      </p:sp>
      <p:sp>
        <p:nvSpPr>
          <p:cNvPr id="44" name="Shape 34"/>
          <p:cNvSpPr/>
          <p:nvPr/>
        </p:nvSpPr>
        <p:spPr>
          <a:xfrm>
            <a:off x="457200" y="482803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A5C5B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58368" y="5047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pic>
        <p:nvPicPr>
          <p:cNvPr id="46" name="Image 8" descr="/home/z/my-project/assets/deck_v2/fa_FaSyncAl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5161788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243584" y="50109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boucle de données</a:t>
            </a:r>
            <a:endParaRPr lang="en-US" sz="1400" dirty="0"/>
          </a:p>
        </p:txBody>
      </p:sp>
      <p:sp>
        <p:nvSpPr>
          <p:cNvPr id="48" name="Text 37"/>
          <p:cNvSpPr txBox="1"/>
          <p:nvPr/>
        </p:nvSpPr>
        <p:spPr>
          <a:xfrm>
            <a:off x="1243584" y="5340096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agrégé et anonymisé : un tableau de bord ministériel et un catalogue recalibré en continu.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6217920" y="482803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592A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419088" y="5047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0592A"/>
          </a:solidFill>
          <a:ln/>
        </p:spPr>
      </p:sp>
      <p:pic>
        <p:nvPicPr>
          <p:cNvPr id="51" name="Image 9" descr="/home/z/my-project/assets/deck_v2/fa_FaGamepa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3388" y="5161788"/>
            <a:ext cx="228600" cy="22860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04304" y="50109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les quiz deviennent des jeux</a:t>
            </a:r>
            <a:endParaRPr lang="en-US" sz="1400" dirty="0"/>
          </a:p>
        </p:txBody>
      </p:sp>
      <p:sp>
        <p:nvSpPr>
          <p:cNvPr id="53" name="Text 41"/>
          <p:cNvSpPr txBox="1"/>
          <p:nvPr/>
        </p:nvSpPr>
        <p:spPr>
          <a:xfrm>
            <a:off x="7004304" y="5340096"/>
            <a:ext cx="45262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Points, badges et défis entre classes aux formats BEPC et bac : la répétition devient un plaisir.</a:t>
            </a:r>
            <a:endParaRPr lang="en-US" sz="1050" dirty="0"/>
          </a:p>
        </p:txBody>
      </p:sp>
      <p:sp>
        <p:nvSpPr>
          <p:cNvPr id="54" name="Text 42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ÇA VA MARCHER · LES PREUVES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effets mesurés, un avantage économique décisif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Taille d'effet (Hedges g) des laboratoires virtuels sur les apprentissages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66544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17550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Méta-analyse Li et Liang (2024), PLOS ONE : g = 0,686. En clair : un élève soutenu par des TP virtuels progresse mieux qu'environ 75 % des élèves enseignés sans.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903720" y="1719072"/>
            <a:ext cx="48280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50024" y="1773936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89 %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293608" y="1773936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élèves montrent des gains de connaissances mesurables avec les laboratoires virtuels (Labster).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903720" y="2688336"/>
            <a:ext cx="482803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50024" y="274320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8293608" y="2743200"/>
            <a:ext cx="32735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Jong, Linn et Zacharia (2013) : combiné virtuel + réel, les meilleurs apprentissages.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903720" y="3767328"/>
            <a:ext cx="4828032" cy="2340864"/>
          </a:xfrm>
          <a:prstGeom prst="roundRect">
            <a:avLst>
              <a:gd name="adj" fmla="val 3906"/>
            </a:avLst>
          </a:prstGeom>
          <a:solidFill>
            <a:srgbClr val="0A5C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23176" y="38953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F8E4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gagne en choisissant le virtuel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123176" y="426110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Équipement physique · minimum national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9720072" y="4261104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2,4 milliards FCFA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123176" y="4498848"/>
            <a:ext cx="4389120" cy="155448"/>
          </a:xfrm>
          <a:prstGeom prst="roundRect">
            <a:avLst>
              <a:gd name="adj" fmla="val 50000"/>
            </a:avLst>
          </a:prstGeom>
          <a:solidFill>
            <a:srgbClr val="E0592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123176" y="471830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standard complet (12 M par labo, UNICEF 2025) : 9,7 Md, soit 33 ×.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7123176" y="495604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VirtuLab · déploiement national (3 ans)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9720072" y="4956048"/>
            <a:ext cx="1792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297 M FCFA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123176" y="5193792"/>
            <a:ext cx="536448" cy="155448"/>
          </a:xfrm>
          <a:prstGeom prst="roundRect">
            <a:avLst>
              <a:gd name="adj" fmla="val 50000"/>
            </a:avLst>
          </a:prstGeom>
          <a:solidFill>
            <a:srgbClr val="DCEBE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123176" y="5413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E4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× moins cher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7123176" y="5833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il fonctionne là où le courant et le réseau manquent.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6903720" y="6199632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Preuve surtout du supérieur : pilote évalué localement avec groupes témoins.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Li et Liang (2024), PLOS ONE ; Labster ; de Jong et al. (2013). Coûts : min. ≈ 3 M/labo (marché togolais) ; standard ≈ 12 M (UNICEF, 2025).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tableau de bord web, avec un TP en situation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02336" y="1719072"/>
            <a:ext cx="11356848" cy="4637865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12700">
            <a:solidFill>
              <a:srgbClr val="EDE8DA"/>
            </a:solidFill>
            <a:prstDash val="solid"/>
          </a:ln>
        </p:spPr>
      </p:sp>
      <p:pic>
        <p:nvPicPr>
          <p:cNvPr id="8" name="Image 1" descr="/home/z/my-project/assets/deck_v2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3936"/>
            <a:ext cx="11247120" cy="45281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6430089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tableau de bord web · TP « Dosage acide-base » en 3e · simulation libre, protocole guidé et quiz-jeu aligné BEPC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Hourglass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MAINTENANT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fenêtre 2026-2027 est ouverte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1051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2048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" y="2048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25296" y="20299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réforme est officielle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225296" y="2523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TP sont exigés au collège et au lycée ; les épreuves de BEPC et de bac en traduisent déjà l'exigence.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81051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7376" y="204825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37376" y="2048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86016" y="202996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bailleurs sont mobilisés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6986016" y="252374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d'appui documenté avec le GPE depuis 2025 ; l'initiative Giga (UNICEF-UIT) connecte les écoles africaines.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6656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25296" y="39502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précédents existent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1225296" y="444398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Rwanda : 200 contenus numériques avec le GPE ; PraxiLabs 2e au GR4TE 2026 ; PhET prouve le modèle gratuit depuis 2002.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3730752"/>
            <a:ext cx="548640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37376" y="396849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E059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37376" y="3968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986016" y="395020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place est encore libre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986016" y="444398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Aucune plateforme n'aligne le programme togolais TP par TP. Ce sera une équipe togolaise, ou quelqu'un d'autre, sans le Togo.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5724144"/>
            <a:ext cx="11247120" cy="530352"/>
          </a:xfrm>
          <a:prstGeom prst="roundRect">
            <a:avLst>
              <a:gd name="adj" fmla="val 15517"/>
            </a:avLst>
          </a:prstGeom>
          <a:solidFill>
            <a:srgbClr val="F8E4D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5724144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843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Chaque année de retard prive des centaines de milliers d'élèves d'une partie de leur formation scientifique.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: Global Partnership for Education (2024-2025) ; CIO Mag (2025), initiative Giga ; HundrED (2024).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DÉPLOIEMENT EN TROIS ANS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phase est conditionnée par la preuve de la précédente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Établissements couverts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48256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394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1 : pilote  ·  An 2 : extension régionale  ·  An 3 : déploiement national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63640" y="1755648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3640" y="1755648"/>
            <a:ext cx="82296" cy="13533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1384" y="186537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1 · Pilote et preuve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212848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simulateurs · 40 établissements volontaires (Maritime, Plateaux, Kara) · 200 enseignants formés · convention-cadre et comité scientifique.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3236976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3236976"/>
            <a:ext cx="82296" cy="13533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01384" y="334670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2 · Extension régionale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501384" y="3694176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simulateurs au total · 300 établissements via les directions régionales · 2 000 enseignants formés · intégration à l'ENT et référentiel arrêté.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4718304"/>
            <a:ext cx="544068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4718304"/>
            <a:ext cx="82296" cy="1353312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01384" y="482803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3 · Déploiement national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501384" y="5175504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simulateurs, catalogue complet · 800 établissements et plus · 8 000 enseignants formés · transfert des compétences techniques au ministère.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BUDGET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 millions de FCFA sur trois ans, un récurrent maîtrisé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prévisionnel (millions de FCFA)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048256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programme : 297 M FCFA, soit environ 0,45 million d'euros.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97880" y="1755648"/>
            <a:ext cx="580644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35624" y="186537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5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l'argent construit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135624" y="2194560"/>
            <a:ext cx="5330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51 % de l'année 1 pour la plateforme et les 20 premiers simulateurs ; plus de la moitié de l'enveloppe triennale va au contenu et à la formation, les deux actifs durables.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97880" y="3218688"/>
            <a:ext cx="5806440" cy="1316736"/>
          </a:xfrm>
          <a:prstGeom prst="roundRect">
            <a:avLst>
              <a:gd name="adj" fmla="val 6944"/>
            </a:avLst>
          </a:prstGeom>
          <a:solidFill>
            <a:srgbClr val="F8E4D9"/>
          </a:solidFill>
          <a:ln w="19050">
            <a:solidFill>
              <a:srgbClr val="E0592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35624" y="332841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43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récurrent, prévu dès maintenant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135624" y="3657600"/>
            <a:ext cx="53309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Dès la quatrième année, l'État prend en charge hébergement et maintenance pour environ 12 M FCFA par an : environ 10 % de la seule formule minimale d'équipement des 40 établissements du pilote.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97880" y="4681728"/>
            <a:ext cx="5806440" cy="1481328"/>
          </a:xfrm>
          <a:prstGeom prst="roundRect">
            <a:avLst>
              <a:gd name="adj" fmla="val 617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35624" y="47914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montage multi-bailleurs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135624" y="5120640"/>
            <a:ext cx="533095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C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État togolais · Partenariat mondial pour l'éducation (GPE) · agences de coopération (AFD, GIZ, UNICEF) · opérateurs télécoms (tarification zéro du trafic) · universités de Lomé et de Kara (comité scientifique).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prévisionnel de l'équipe · parité de référence : 655,957 FCFA pour un euro.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L'IMPACT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Togo y gagne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82880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828800"/>
            <a:ext cx="82296" cy="19568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4944" y="19933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600 000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élèves touchés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88950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accès gratuit et complet aux TP, y compris dans les zones sans électricité ni laboratoire : plus aucun élève examiné sur ce qu'il n'a jamais manipulé.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82296" cy="19568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55664" y="19933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8 000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enseignants formés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55664" y="288950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séances prêtes à l'emploi et des démonstrations fiables : moins de temps de préparation, une continuité pédagogique assurée même avec les départs d'enseignants.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023360"/>
            <a:ext cx="82296" cy="195681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4944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×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" y="4773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moins cher pour l'État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94944" y="508406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réforme devient exécutable partout pour 297 M FCFA, au lieu d'au moins 2,4 milliards en équipement physique : l'argent public va à l'usage, pas au bâti.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4023360"/>
            <a:ext cx="5486400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4023360"/>
            <a:ext cx="82296" cy="1956816"/>
          </a:xfrm>
          <a:prstGeom prst="rect">
            <a:avLst/>
          </a:prstGeom>
          <a:solidFill>
            <a:srgbClr val="E0592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55664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5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Inédit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4773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3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piloter sur des données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5084064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Statistiques d'usage agrégées et anonymisées : le ministère voit enfin la pratique réelle des TP et pilote sa politique scientifique sur des faits.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035040"/>
            <a:ext cx="10698480" cy="512064"/>
          </a:xfrm>
          <a:prstGeom prst="roundRect">
            <a:avLst>
              <a:gd name="adj" fmla="val 16071"/>
            </a:avLst>
          </a:prstGeom>
          <a:solidFill>
            <a:srgbClr val="0E7C7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6035040"/>
            <a:ext cx="10149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actif technologique national, réutilisable par d'autres matières : le Togo, référence francophone des TP virtuels.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3" name="Image 0" descr="/home/z/my-project/assets/deck_v2/fa_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461772"/>
            <a:ext cx="192024" cy="192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32688" y="365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L'ÉQUIPE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fondateurs, une complémentarité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475488" y="1490472"/>
            <a:ext cx="141732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1933956" y="182880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8" name="Image 1" descr="/home/z/my-project/assets/deck/team_djab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2121408"/>
            <a:ext cx="1371600" cy="1371600"/>
          </a:xfrm>
          <a:prstGeom prst="ellipse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16836" y="36210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DJABON Ounimborbititou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2116836" y="40050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 et simulateurs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2253996" y="4352544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de la plateforme, développement HTML5 des simulateurs, packs hors ligne et données d'usage.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43116" y="1828800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DCEBEA"/>
            </a:solidFill>
            <a:prstDash val="solid"/>
          </a:ln>
        </p:spPr>
      </p:sp>
      <p:pic>
        <p:nvPicPr>
          <p:cNvPr id="13" name="Image 2" descr="/home/z/my-project/assets/deck/team_rol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121408"/>
            <a:ext cx="1371600" cy="1371600"/>
          </a:xfrm>
          <a:prstGeom prst="ellipse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25996" y="36210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HOUNKPE Mawulikpimi Roland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825996" y="40050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Pédagogie et partenariats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963156" y="4352544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Cartographie des TP avec les inspecteurs, comité scientifique, formation des enseignants et partenariats.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979676" y="5614416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DCEBE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979676" y="5614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5C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Partagé : le pilote des 40 établissements, la mesure d'impact et le plaidoyer de financement.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19088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Ancrage local : Université de Lomé · AIMS Ghana (African Institute for Mathematical Sciences).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84280" y="641908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B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5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assets/deck_v2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291840"/>
            <a:ext cx="4005072" cy="23682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/>
        </p:spPr>
      </p:sp>
      <p:pic>
        <p:nvPicPr>
          <p:cNvPr id="4" name="Image 1" descr="/home/z/my-project/assets/deck_v2/fa_Fa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534924"/>
            <a:ext cx="192024" cy="1920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32688" y="42062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DCEB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89611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demande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960120" y="2011680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60120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1956816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regard critique et votre appui scientifique</a:t>
            </a:r>
            <a:endParaRPr lang="en-US" sz="185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359152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 le concept, le catalogue et le protocole d'évaluation du pilote, en vue du comité scientifique avec l'Université de Lomé et l'Université de Kara.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3236976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60120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182112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mise en relation au ministère</a:t>
            </a:r>
            <a:endParaRPr lang="en-US" sz="185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3584448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nous ne demandons pas que vous financiez, mais que vous ouvriez la porte du ministère pour cadrer le catalogue TP par TP avec les inspecteurs.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60120" y="4462272"/>
            <a:ext cx="475488" cy="475488"/>
          </a:xfrm>
          <a:prstGeom prst="ellipse">
            <a:avLst/>
          </a:prstGeom>
          <a:solidFill>
            <a:srgbClr val="E059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60120" y="4462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1691640" y="4407408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orientations vers les bons guichets</a:t>
            </a:r>
            <a:endParaRPr lang="en-US" sz="1850" dirty="0"/>
          </a:p>
        </p:txBody>
      </p:sp>
      <p:sp>
        <p:nvSpPr>
          <p:cNvPr id="18" name="Text 14"/>
          <p:cNvSpPr txBox="1"/>
          <p:nvPr/>
        </p:nvSpPr>
        <p:spPr>
          <a:xfrm>
            <a:off x="1691640" y="4809744"/>
            <a:ext cx="9509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GPE, AFD, GIZ, UNICEF : aidez-nous à affiner le montage de 297 M FCFA et à saisir la fenêtre 2026-2027 avant quelqu'un d'autre.</a:t>
            </a:r>
            <a:endParaRPr lang="en-US" sz="1200" dirty="0"/>
          </a:p>
        </p:txBody>
      </p:sp>
      <p:pic>
        <p:nvPicPr>
          <p:cNvPr id="19" name="Image 2" descr="/home/z/my-project/assets/deck_v2/fa_FaPhon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607161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61872" y="6035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+228 92 39 97 21   ·   +228 93 21 72 15</a:t>
            </a:r>
            <a:endParaRPr lang="en-US" sz="1100" dirty="0"/>
          </a:p>
        </p:txBody>
      </p:sp>
      <p:pic>
        <p:nvPicPr>
          <p:cNvPr id="21" name="Image 3" descr="/home/z/my-project/assets/deck_v2/fa_Fa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645566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64190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E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djabon@aims.edu.gh   ·   rhounkpe@aims.edu.gh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VirtuLab Togo · Équipe ExamBoost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VirtuLab Togo · Plateforme nationale de travaux pratiques virtuels</dc:title>
  <dc:subject>Présentation de crédibilité scientifique et demande de parrainage</dc:subject>
  <dc:creator>DJABON Ounimborbititou &amp; HOUNKPE Mawulikpimi Roland</dc:creator>
  <cp:lastModifiedBy>DJABON Ounimborbititou &amp; HOUNKPE Mawulikpimi Roland</cp:lastModifiedBy>
  <cp:revision>1</cp:revision>
  <dcterms:created xsi:type="dcterms:W3CDTF">2026-09-08T11:37:53Z</dcterms:created>
  <dcterms:modified xsi:type="dcterms:W3CDTF">2026-09-08T11:37:53Z</dcterms:modified>
</cp:coreProperties>
</file>