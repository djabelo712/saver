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Établissements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592A"/>
              </a:solidFill>
              <a:effectLst/>
            </c:spPr>
          </c:dPt>
          <c:dPt>
            <c:idx val="1"/>
            <c:bubble3D val="0"/>
            <c:spPr>
              <a:solidFill>
                <a:srgbClr val="DCEBE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Sans laboratoire</c:v>
                </c:pt>
                <c:pt idx="1">
                  <c:v>Avec laboratoire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Repères de Cohen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Méta-analyse 2024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0.686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DE8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B80"/>
                </a:solidFill>
                <a:latin typeface="Trebuchet MS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Pilote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Extension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300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National</c:v>
                </c:pt>
              </c:strCache>
            </c:strRef>
          </c:tx>
          <c:spPr>
            <a:solidFill>
              <a:srgbClr val="E0592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800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 annuel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&quot; 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</c:v>
                </c:pt>
                <c:pt idx="1">
                  <c:v>85</c:v>
                </c:pt>
                <c:pt idx="2">
                  <c:v>95</c:v>
                </c:pt>
              </c:numCache>
            </c:numRef>
          </c:val>
        </c:ser>
        <c:dLbls>
          <c:numFmt formatCode="0&quot; 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image" Target="../media/image-4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55955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71323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64208"/>
            <a:ext cx="4709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nationale de travaux pratiques virtuels</a:t>
            </a:r>
            <a:endParaRPr lang="en-US" sz="17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le collège et le lycée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50292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05740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09397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MATIÈRES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61188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6e · Tle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 ET LYCÉE</a:t>
            </a:r>
            <a:endParaRPr lang="en-US" sz="78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33088"/>
            <a:ext cx="4846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Présenté au Professeur ATCHONOUGLO Kossi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91456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Directeur de la DSRI · Université de Lomé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52297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 Ounimborbititou   ·   HOUNKPE Mawulikpimi Roland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8155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Université de Lomé   ·   AIMS Ghana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089904"/>
            <a:ext cx="4892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Septembre 2026</a:t>
            </a:r>
            <a:endParaRPr lang="en-US" sz="1000" dirty="0"/>
          </a:p>
        </p:txBody>
      </p:sp>
      <p:pic>
        <p:nvPicPr>
          <p:cNvPr id="19" name="Image 0" descr="/home/z/my-project/assets/deck_v2/cover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2" y="0"/>
            <a:ext cx="6629400" cy="426110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59552" y="4261104"/>
            <a:ext cx="6629400" cy="45720"/>
          </a:xfrm>
          <a:prstGeom prst="rect">
            <a:avLst/>
          </a:prstGeom>
          <a:solidFill>
            <a:srgbClr val="F5F2E9"/>
          </a:solidFill>
          <a:ln/>
        </p:spPr>
      </p:sp>
      <p:pic>
        <p:nvPicPr>
          <p:cNvPr id="21" name="Image 1" descr="/home/z/my-project/assets/deck_v2/cover_l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4306824"/>
            <a:ext cx="662940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GlobeAfr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CONTEXTE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école qui grandit vite, des TP restés au tableau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00784"/>
            <a:ext cx="5394960" cy="3621024"/>
          </a:xfrm>
          <a:prstGeom prst="roundRect">
            <a:avLst>
              <a:gd name="adj" fmla="val 252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86537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Collèges et lycées publics · Togo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79392" y="186537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F8E4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79392" y="186537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×3 en 13 ans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2670048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2011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554480" y="2670048"/>
            <a:ext cx="1058048" cy="530352"/>
          </a:xfrm>
          <a:prstGeom prst="roundRect">
            <a:avLst>
              <a:gd name="adj" fmla="val 12069"/>
            </a:avLst>
          </a:prstGeom>
          <a:solidFill>
            <a:srgbClr val="8A959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49104" y="2670048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294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3767328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554480" y="3767328"/>
            <a:ext cx="3246120" cy="530352"/>
          </a:xfrm>
          <a:prstGeom prst="roundRect">
            <a:avLst>
              <a:gd name="adj" fmla="val 12069"/>
            </a:avLst>
          </a:prstGeom>
          <a:solidFill>
            <a:srgbClr val="0E7C7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37176" y="3767328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4517136"/>
            <a:ext cx="488289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608 créés depuis 2011, souvent en zones rurales, sans salle de sciences ni matériel.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089904" y="1700784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89904" y="1700784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27648" y="1810512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915 214</a:t>
            </a:r>
            <a:endParaRPr lang="en-US" sz="270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1792224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du secondaire, public et privé, concernés par la réforme des TP.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302752" y="2523744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 et ISU, 2023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89904" y="2944368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2944368"/>
            <a:ext cx="82296" cy="113385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327648" y="3054096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90 %</a:t>
            </a:r>
            <a:endParaRPr lang="en-US" sz="2700" dirty="0"/>
          </a:p>
        </p:txBody>
      </p:sp>
      <p:sp>
        <p:nvSpPr>
          <p:cNvPr id="26" name="Text 23"/>
          <p:cNvSpPr txBox="1"/>
          <p:nvPr/>
        </p:nvSpPr>
        <p:spPr>
          <a:xfrm>
            <a:off x="8302752" y="3035808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écoles d'Afrique subsaharienne n'ont pas de laboratoire de sciences.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302752" y="3767328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Partenariat mondial pour l'éducation (GPE), 2019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089904" y="4187952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4187952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7648" y="429768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33,9 %</a:t>
            </a:r>
            <a:endParaRPr lang="en-US" sz="2700" dirty="0"/>
          </a:p>
        </p:txBody>
      </p:sp>
      <p:sp>
        <p:nvSpPr>
          <p:cNvPr id="31" name="Text 28"/>
          <p:cNvSpPr txBox="1"/>
          <p:nvPr/>
        </p:nvSpPr>
        <p:spPr>
          <a:xfrm>
            <a:off x="8302752" y="4279392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d'électrification en zones rurales : un laboratoire ne s'allume pas.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302752" y="5010912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mondiale, 2024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5614416"/>
            <a:ext cx="11247120" cy="658368"/>
          </a:xfrm>
          <a:prstGeom prst="roundRect">
            <a:avLst>
              <a:gd name="adj" fmla="val 12500"/>
            </a:avLst>
          </a:prstGeom>
          <a:solidFill>
            <a:srgbClr val="0A5C5B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31520" y="561441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BEPC et le baccalauréat interrogent chaque année des manipulations que la majorité des élèves n'a jamais pratiquées.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Ministère de l'Éducation nationale, Togo (2024) ; Banque mondiale et Institut de statistique de l'UNESCO (2023) ; GPE (2019).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MapMarker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 EN CHIFFRES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Équiper physiquement le pays : au moins 8 milliards FCFA</a:t>
            </a:r>
            <a:endParaRPr lang="en-US" sz="26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73936"/>
            <a:ext cx="521208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0" y="1773936"/>
            <a:ext cx="57607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" y="190195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besoin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432304"/>
          <a:ext cx="214884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017520" y="25603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90 %</a:t>
            </a:r>
            <a:endParaRPr lang="en-US" sz="3100" dirty="0"/>
          </a:p>
        </p:txBody>
      </p:sp>
      <p:sp>
        <p:nvSpPr>
          <p:cNvPr id="12" name="Text 8"/>
          <p:cNvSpPr txBox="1"/>
          <p:nvPr/>
        </p:nvSpPr>
        <p:spPr>
          <a:xfrm>
            <a:off x="3017520" y="316382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écoles d'Afrique subsaharienne n'ont pas de laboratoire de sciences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017520" y="411480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Partenariat mondial pour l'éducation (GPE), 2019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86384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0592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005840" y="46634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Sans laboratoire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304288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CEBEA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523744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Avec laboratoire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13232" y="4901184"/>
            <a:ext cx="4700016" cy="12802"/>
          </a:xfrm>
          <a:prstGeom prst="rect">
            <a:avLst/>
          </a:prstGeom>
          <a:solidFill>
            <a:srgbClr val="EDE8D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13232" y="4992624"/>
            <a:ext cx="4700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Togo : </a:t>
            </a:r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902 collèges et lycées publics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dont 608 construits depuis 2011.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163056" y="1901952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coûterait le rattrapage physique, sans VirtuLab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6163056" y="2231136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902 établissements publics × ≈ 90 % sans laboratoire ≈ 810 à équiper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181344" y="2523744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8E4D9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181344" y="2615184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810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6236208" y="307238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à équiper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7662672" y="2523744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7900416" y="2523744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8E4D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00416" y="2615184"/>
            <a:ext cx="1517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 FCFA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946136" y="3072384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d'équipement min. par labo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9418320" y="2523744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9656064" y="2523744"/>
            <a:ext cx="1810512" cy="914400"/>
          </a:xfrm>
          <a:prstGeom prst="roundRect">
            <a:avLst>
              <a:gd name="adj" fmla="val 8000"/>
            </a:avLst>
          </a:prstGeom>
          <a:solidFill>
            <a:srgbClr val="E0592A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9656064" y="2615184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 milliards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9656064" y="3072384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 · équipement seul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181344" y="3584448"/>
            <a:ext cx="528523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Référence régionale : </a:t>
            </a:r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bloc scientifique complet (salles + équipement) ≈ 250 M FCFA (Sénégal, 2014), soit ≈ 200 Md pour le pays.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6181344" y="4169664"/>
            <a:ext cx="5285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un laboratoire ne s'allume pas tout seul :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6181344" y="4480560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nationale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10515600" y="44805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61,1 %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181344" y="4773168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38" name="Shape 34"/>
          <p:cNvSpPr/>
          <p:nvPr/>
        </p:nvSpPr>
        <p:spPr>
          <a:xfrm>
            <a:off x="6181344" y="4773168"/>
            <a:ext cx="3206929" cy="12801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6181344" y="5029200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en zones rurales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10515600" y="50292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33,9 %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181344" y="5321808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42" name="Shape 38"/>
          <p:cNvSpPr/>
          <p:nvPr/>
        </p:nvSpPr>
        <p:spPr>
          <a:xfrm>
            <a:off x="6181344" y="5321808"/>
            <a:ext cx="1779294" cy="128016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43" name="Shape 39"/>
          <p:cNvSpPr/>
          <p:nvPr/>
        </p:nvSpPr>
        <p:spPr>
          <a:xfrm>
            <a:off x="457200" y="5614416"/>
            <a:ext cx="11247120" cy="658368"/>
          </a:xfrm>
          <a:prstGeom prst="roundRect">
            <a:avLst>
              <a:gd name="adj" fmla="val 12500"/>
            </a:avLst>
          </a:prstGeom>
          <a:solidFill>
            <a:srgbClr val="0A5C5B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31520" y="561441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Même frugale, la facture dépasse 8 milliards, hors salles, hors courant, hors consommables annuels : le tout-physique n'est pas une option.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GPE (2019) ; Ministère de l'Éducation nationale, Togo (2024) ; Banque mondiale (2024). Hypothèse : 10 M FCFA d'équipement par laboratoire, à affiner avec le ministère.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A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 : le laboratoire dans chaque poche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66420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Gratuite, publique et hors ligne : 120 simulateurs alignés sur les programmes officiels, du collège au lycée.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0E7C7B"/>
          </a:solidFill>
          <a:ln/>
        </p:spPr>
      </p:sp>
      <p:pic>
        <p:nvPicPr>
          <p:cNvPr id="10" name="Image 1" descr="/home/z/my-project/assets/deck_v2/fa_FaA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56489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1460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TP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9494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Physique-chimie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9494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Circuits, optique, mécanique, dosage des solutions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7482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1256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0592A"/>
          </a:solidFill>
          <a:ln/>
        </p:spPr>
      </p:sp>
      <p:pic>
        <p:nvPicPr>
          <p:cNvPr id="16" name="Image 2" descr="/home/z/my-project/assets/deck_v2/fa_FaLea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222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TP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51256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SVT</a:t>
            </a:r>
            <a:endParaRPr lang="en-US" sz="1650" dirty="0"/>
          </a:p>
        </p:txBody>
      </p:sp>
      <p:sp>
        <p:nvSpPr>
          <p:cNvPr id="19" name="Text 14"/>
          <p:cNvSpPr txBox="1"/>
          <p:nvPr/>
        </p:nvSpPr>
        <p:spPr>
          <a:xfrm>
            <a:off x="451256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Cellule, génétique, écosystèmes, nutrition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9244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3018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8A959B"/>
          </a:solidFill>
          <a:ln/>
        </p:spPr>
      </p:sp>
      <p:pic>
        <p:nvPicPr>
          <p:cNvPr id="22" name="Image 3" descr="/home/z/my-project/assets/deck_v2/fa_FaSquareRoot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5648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14984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TP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833018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Mathématiques</a:t>
            </a:r>
            <a:endParaRPr lang="en-US" sz="1650" dirty="0"/>
          </a:p>
        </p:txBody>
      </p:sp>
      <p:sp>
        <p:nvSpPr>
          <p:cNvPr id="25" name="Text 19"/>
          <p:cNvSpPr txBox="1"/>
          <p:nvPr/>
        </p:nvSpPr>
        <p:spPr>
          <a:xfrm>
            <a:off x="833018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Fonctions, géométrie dynamique, statistiques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449884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13232" y="4608576"/>
            <a:ext cx="23774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6e à la terminale</a:t>
            </a:r>
            <a:endParaRPr lang="en-US" sz="1450" dirty="0"/>
          </a:p>
        </p:txBody>
      </p:sp>
      <p:sp>
        <p:nvSpPr>
          <p:cNvPr id="28" name="Shape 22"/>
          <p:cNvSpPr/>
          <p:nvPr/>
        </p:nvSpPr>
        <p:spPr>
          <a:xfrm>
            <a:off x="315468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15468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6e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412394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12394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093208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5093208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062472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062472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3e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031736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7031736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2de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800100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800100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1re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897026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897026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300" dirty="0"/>
          </a:p>
        </p:txBody>
      </p:sp>
      <p:sp>
        <p:nvSpPr>
          <p:cNvPr id="42" name="Text 36"/>
          <p:cNvSpPr txBox="1"/>
          <p:nvPr/>
        </p:nvSpPr>
        <p:spPr>
          <a:xfrm>
            <a:off x="3154680" y="519379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</a:t>
            </a:r>
            <a:endParaRPr lang="en-US" sz="850" dirty="0"/>
          </a:p>
        </p:txBody>
      </p:sp>
      <p:sp>
        <p:nvSpPr>
          <p:cNvPr id="43" name="Text 37"/>
          <p:cNvSpPr txBox="1"/>
          <p:nvPr/>
        </p:nvSpPr>
        <p:spPr>
          <a:xfrm>
            <a:off x="7031736" y="5193792"/>
            <a:ext cx="27797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LYCÉE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45720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5" name="Image 4" descr="/home/z/my-project/assets/deck_v2/fa_Fa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925312"/>
            <a:ext cx="201168" cy="201168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9611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 pour tous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330708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8" name="Image 5" descr="/home/z/my-project/assets/deck_v2/fa_Fa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9960" y="5925312"/>
            <a:ext cx="201168" cy="201168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374599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 ligne d'abord</a:t>
            </a:r>
            <a:endParaRPr lang="en-US" sz="1150" dirty="0"/>
          </a:p>
        </p:txBody>
      </p:sp>
      <p:sp>
        <p:nvSpPr>
          <p:cNvPr id="50" name="Shape 42"/>
          <p:cNvSpPr/>
          <p:nvPr/>
        </p:nvSpPr>
        <p:spPr>
          <a:xfrm>
            <a:off x="615696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1" name="Image 6" descr="/home/z/my-project/assets/deck_v2/fa_Fa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840" y="5925312"/>
            <a:ext cx="201168" cy="20116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59587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Aligné TP par TP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900684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4" name="Image 7" descr="/home/z/my-project/assets/deck_v2/fa_Fa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5925312"/>
            <a:ext cx="201168" cy="20116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4575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et élève</a:t>
            </a:r>
            <a:endParaRPr lang="en-US" sz="1150" dirty="0"/>
          </a:p>
        </p:txBody>
      </p:sp>
      <p:sp>
        <p:nvSpPr>
          <p:cNvPr id="56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ÇA MARCHE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Cinq étapes, du programme officiel à la classe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23744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Référencer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du programme cartographiés avec les inspecteurs.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530602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38628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06724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16" name="Image 2" descr="/home/z/my-project/assets/deck_v2/fa_FaPencilRul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52374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738628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2738628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2903220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pédagogique : objectif, pièges, quiz type examen.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812030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1" name="Shape 16"/>
          <p:cNvSpPr/>
          <p:nvPr/>
        </p:nvSpPr>
        <p:spPr>
          <a:xfrm>
            <a:off x="5020056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788152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23" name="Image 3" descr="/home/z/my-project/assets/deck_v2/fa_FaLaptop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523744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020056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5020056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Développer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5184648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HTML5, 1 à 3 Mo par TP, conçu pour tourner hors ligne.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93458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8" name="Shape 22"/>
          <p:cNvSpPr/>
          <p:nvPr/>
        </p:nvSpPr>
        <p:spPr>
          <a:xfrm>
            <a:off x="7301484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69580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30" name="Image 4" descr="/home/z/my-project/assets/deck_v2/fa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884" y="2523744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01484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4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7301484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Valider</a:t>
            </a:r>
            <a:endParaRPr lang="en-US" sz="1450" dirty="0"/>
          </a:p>
        </p:txBody>
      </p:sp>
      <p:sp>
        <p:nvSpPr>
          <p:cNvPr id="33" name="Text 26"/>
          <p:cNvSpPr txBox="1"/>
          <p:nvPr/>
        </p:nvSpPr>
        <p:spPr>
          <a:xfrm>
            <a:off x="7466076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 revue : comité scientifique et inspecteurs.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374886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35" name="Shape 28"/>
          <p:cNvSpPr/>
          <p:nvPr/>
        </p:nvSpPr>
        <p:spPr>
          <a:xfrm>
            <a:off x="9582912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351008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592A"/>
          </a:solidFill>
          <a:ln/>
        </p:spPr>
      </p:sp>
      <p:pic>
        <p:nvPicPr>
          <p:cNvPr id="37" name="Image 5" descr="/home/z/my-project/assets/deck_v2/fa_FaChart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2523744"/>
            <a:ext cx="292608" cy="29260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582912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5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9582912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Déployer</a:t>
            </a:r>
            <a:endParaRPr lang="en-US" sz="1450" dirty="0"/>
          </a:p>
        </p:txBody>
      </p:sp>
      <p:sp>
        <p:nvSpPr>
          <p:cNvPr id="40" name="Text 32"/>
          <p:cNvSpPr txBox="1"/>
          <p:nvPr/>
        </p:nvSpPr>
        <p:spPr>
          <a:xfrm>
            <a:off x="9747504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mesuré en classe, catalogue recalibré.</a:t>
            </a:r>
            <a:endParaRPr lang="en-US" sz="1050" dirty="0"/>
          </a:p>
        </p:txBody>
      </p:sp>
      <p:sp>
        <p:nvSpPr>
          <p:cNvPr id="41" name="Text 33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Boucle de recalibrage : les données d'usage indiquent quels contenus manquent et quoi développer ensuite.</a:t>
            </a:r>
            <a:endParaRPr lang="en-US" sz="1050" dirty="0"/>
          </a:p>
        </p:txBody>
      </p:sp>
      <p:sp>
        <p:nvSpPr>
          <p:cNvPr id="42" name="Shape 34"/>
          <p:cNvSpPr/>
          <p:nvPr/>
        </p:nvSpPr>
        <p:spPr>
          <a:xfrm>
            <a:off x="457200" y="5632704"/>
            <a:ext cx="11247120" cy="54864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731520" y="563270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simulateur arrive avec sa fiche pédagogique, son protocole de séance prêt à l'emploi et son quiz-jeu d'évaluation.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SOCLE TECHNIQUE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qui fonctionne sans réseau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13055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PROGRAMME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03504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Fiche, protocole et quiz-jeu pour chaque séance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041904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3" name="Shape 9"/>
          <p:cNvSpPr/>
          <p:nvPr/>
        </p:nvSpPr>
        <p:spPr>
          <a:xfrm>
            <a:off x="3377184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83024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15" name="Image 2" descr="/home/z/my-project/assets/deck_v2/fa_FaLaptop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96" y="213055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32048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523488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à 3 Mo par TP, fluides sur PC et smartphone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5961888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9" name="Shape 14"/>
          <p:cNvSpPr/>
          <p:nvPr/>
        </p:nvSpPr>
        <p:spPr>
          <a:xfrm>
            <a:off x="6297168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03008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E0592A"/>
          </a:solidFill>
          <a:ln/>
        </p:spPr>
      </p:sp>
      <p:pic>
        <p:nvPicPr>
          <p:cNvPr id="21" name="Image 3" descr="/home/z/my-project/assets/deck_v2/md_MdWifiO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80" y="213055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2032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WEB PROGRESSIVE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443472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entier en cache local, sync différée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881872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25" name="Shape 19"/>
          <p:cNvSpPr/>
          <p:nvPr/>
        </p:nvSpPr>
        <p:spPr>
          <a:xfrm>
            <a:off x="9217152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222992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27" name="Image 4" descr="/home/z/my-project/assets/deck_v2/fa_FaChalkboardTea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864" y="2130552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72016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ET MAISON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363456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projeté en classe, rejoué librement à la maison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712464"/>
            <a:ext cx="11247120" cy="859536"/>
          </a:xfrm>
          <a:prstGeom prst="roundRect">
            <a:avLst>
              <a:gd name="adj" fmla="val 9574"/>
            </a:avLst>
          </a:prstGeom>
          <a:solidFill>
            <a:srgbClr val="EDE8D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94944" y="3785616"/>
            <a:ext cx="3108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CHEMINS JUSQU'À LA CLASSE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566160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657600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4" name="Image 5" descr="/home/z/my-project/assets/deck_v2/fa_Fa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055364"/>
            <a:ext cx="173736" cy="1737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4041648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international + miroir national</a:t>
            </a:r>
            <a:endParaRPr lang="en-US" sz="980" dirty="0"/>
          </a:p>
        </p:txBody>
      </p:sp>
      <p:sp>
        <p:nvSpPr>
          <p:cNvPr id="36" name="Shape 28"/>
          <p:cNvSpPr/>
          <p:nvPr/>
        </p:nvSpPr>
        <p:spPr>
          <a:xfrm>
            <a:off x="6281928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73368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8" name="Image 6" descr="/home/z/my-project/assets/deck_v2/fa_FaUs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055364"/>
            <a:ext cx="173736" cy="17373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57416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hors ligne : clé USB ou réseau local</a:t>
            </a:r>
            <a:endParaRPr lang="en-US" sz="980" dirty="0"/>
          </a:p>
        </p:txBody>
      </p:sp>
      <p:sp>
        <p:nvSpPr>
          <p:cNvPr id="40" name="Shape 31"/>
          <p:cNvSpPr/>
          <p:nvPr/>
        </p:nvSpPr>
        <p:spPr>
          <a:xfrm>
            <a:off x="8997696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9089136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42" name="Image 7" descr="/home/z/my-project/assets/deck_v2/fa_FaSolarPan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716" y="4055364"/>
            <a:ext cx="173736" cy="17373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473184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Smartphone + kit solaire, même sans électricité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45720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0A5C5B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65836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/>
        </p:spPr>
      </p:sp>
      <p:pic>
        <p:nvPicPr>
          <p:cNvPr id="46" name="Image 8" descr="/home/z/my-project/assets/deck_v2/fa_FaSyncAl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5161788"/>
            <a:ext cx="228600" cy="22860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24358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boucle de données</a:t>
            </a:r>
            <a:endParaRPr lang="en-US" sz="1400" dirty="0"/>
          </a:p>
        </p:txBody>
      </p:sp>
      <p:sp>
        <p:nvSpPr>
          <p:cNvPr id="48" name="Text 37"/>
          <p:cNvSpPr txBox="1"/>
          <p:nvPr/>
        </p:nvSpPr>
        <p:spPr>
          <a:xfrm>
            <a:off x="1243584" y="5340096"/>
            <a:ext cx="44805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agrégé et anonymisé : un tableau de bord ministériel et un catalogue recalibré en continu.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621792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41908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592A"/>
          </a:solidFill>
          <a:ln/>
        </p:spPr>
      </p:sp>
      <p:pic>
        <p:nvPicPr>
          <p:cNvPr id="51" name="Image 9" descr="/home/z/my-project/assets/deck_v2/fa_FaGamepa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3388" y="5161788"/>
            <a:ext cx="228600" cy="2286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0430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 les quiz deviennent des jeux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7004304" y="5340096"/>
            <a:ext cx="45262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Points, badges et défis entre classes aux formats BEPC et bac : la répétition devient un plaisir.</a:t>
            </a:r>
            <a:endParaRPr lang="en-US" sz="1050" dirty="0"/>
          </a:p>
        </p:txBody>
      </p:sp>
      <p:sp>
        <p:nvSpPr>
          <p:cNvPr id="54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ÇA VA MARCHER · LES PREUVES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effets mesurés, un avantage économique décisif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Taille d'effet (Hedges g) des laboratoires virtuels sur les apprentissages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66544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175504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Méta-analyse Li et Liang (2024), PLOS ONE : g = 0,686. En clair : un élève soutenu par des TP virtuels progresse mieux qu'environ 75 % des élèves enseignés sans.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719072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50024" y="1773936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89 %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293608" y="1773936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élèves montrent des gains de connaissances mesurables avec les laboratoires virtuels (Labster).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03720" y="2688336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50024" y="274320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293608" y="2743200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Jong, Linn et Zacharia (2013) : combiné virtuel + réel, les meilleurs apprentissages.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903720" y="3767328"/>
            <a:ext cx="4828032" cy="2340864"/>
          </a:xfrm>
          <a:prstGeom prst="roundRect">
            <a:avLst>
              <a:gd name="adj" fmla="val 3906"/>
            </a:avLst>
          </a:prstGeom>
          <a:solidFill>
            <a:srgbClr val="0A5C5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23176" y="389534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qu'on gagne en choisissant le virtuel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123176" y="427939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Équipement physique des laboratoires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9720072" y="427939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8 milliards FCFA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7123176" y="4517136"/>
            <a:ext cx="4389120" cy="155448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123176" y="4791456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déploiement national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720072" y="479145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297 M FCFA sur 3 ans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123176" y="5029200"/>
            <a:ext cx="160934" cy="155448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123176" y="528523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E4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25 × moins cher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7123176" y="57790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il fonctionne là où le courant et le réseau manquent.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903720" y="6199632"/>
            <a:ext cx="482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Preuve issue surtout du supérieur : le pilote togolais sera évalué localement avec groupes témoins.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Li et Liang (2024), PLOS ONE ; Labster ; de Jong et al. (2013), Science. Coûts : hypothèse 10 M FCFA/labo, hors construction, à affiner.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DÉMONSTRATION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tableau de bord web, avec un TP en situation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02336" y="1719072"/>
            <a:ext cx="11356848" cy="4637865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DE8DA"/>
            </a:solidFill>
            <a:prstDash val="solid"/>
          </a:ln>
        </p:spPr>
      </p:sp>
      <p:pic>
        <p:nvPicPr>
          <p:cNvPr id="8" name="Image 1" descr="/home/z/my-project/assets/deck_v2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3936"/>
            <a:ext cx="11247120" cy="45281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6430089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tableau de bord web · TP « Dosage acide-base » en 3e · simulation libre, protocole guidé et quiz-jeu aligné BEPC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Hourglass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MAINTENANT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fenêtre 2026-2027 est ouverte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est officielle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122529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sont exigés au collège et au lycée ; les épreuves de BEPC et de bac en traduisent déjà l'exigence.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3737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737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8601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bailleurs sont mobilisés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698601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 d'appui documenté avec le GPE depuis 2025 ; l'initiative Giga (UNICEF-UIT) connecte les écoles africaines.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22529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précédents existent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Rwanda : 200 contenus numériques avec le GPE ; PraxiLabs 2e au GR4TE 2026 ; PhET prouve le modèle gratuit depuis 2002.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21792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3737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737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98601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place est encore libre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698601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Aucune plateforme n'aligne le programme togolais TP par TP. Ce sera une équipe togolaise, ou quelqu'un d'autre, sans le Togo.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5724144"/>
            <a:ext cx="11247120" cy="530352"/>
          </a:xfrm>
          <a:prstGeom prst="roundRect">
            <a:avLst>
              <a:gd name="adj" fmla="val 15517"/>
            </a:avLst>
          </a:prstGeom>
          <a:solidFill>
            <a:srgbClr val="F8E4D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5724144"/>
            <a:ext cx="10698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année de retard prive des centaines de milliers d'élèves d'une partie de leur formation scientifique.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Global Partnership for Education (2024-2025) ; CIO Mag (2025), initiative Giga ; HundrED (2024).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DÉPLOIEMENT EN TROIS ANS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Chaque phase est conditionnée par la preuve de la précédente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couverts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949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1 : pilote  ·  An 2 : extension régionale  ·  An 3 : déploiement national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63640" y="1755648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63640" y="1755648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01384" y="186537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1 · Pilote et preuve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6501384" y="2212848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simulateurs · 40 établissements volontaires (Maritime, Plateaux, Kara) · 200 enseignants formés · convention-cadre et comité scientifique.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63640" y="3236976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3236976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01384" y="334670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2 · Extension régionale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501384" y="3694176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simulateurs au total · 300 établissements via les directions régionales · 2 000 enseignants formés · intégration à l'ENT et référentiel arrêté.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63640" y="4718304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4718304"/>
            <a:ext cx="82296" cy="1353312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01384" y="482803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3 · Déploiement national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5175504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 simulateurs, catalogue complet · 800 établissements et plus · 8 000 enseignants formés · transfert des compétences techniques au ministère.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BUDGET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millions de FCFA sur trois ans, un récurrent maîtrisé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(millions de FCFA)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035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programme : 297 M FCFA, soit environ 0,45 million d'euros.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897880" y="175564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35624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l'argent construit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35624" y="219456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51 % de l'année 1 pour la plateforme et les 20 premiers simulateurs ; plus de la moitié de l'enveloppe triennale va au contenu et à la formation, les deux actifs durables.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97880" y="321868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8E4D9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35624" y="332841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récurrent, prévu dès maintenant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135624" y="365760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Dès la quatrième année, l'État prend en charge hébergement et maintenance pour environ 12 M FCFA par an : environ 3 % de l'équipement physique des seuls 40 établissements du pilote.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97880" y="4681728"/>
            <a:ext cx="5806440" cy="1481328"/>
          </a:xfrm>
          <a:prstGeom prst="roundRect">
            <a:avLst>
              <a:gd name="adj" fmla="val 6173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35624" y="479145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montage multi-bailleurs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6135624" y="5120640"/>
            <a:ext cx="533095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État togolais · Partenariat mondial pour l'éducation (GPE) · agences de coopération (AFD, GIZ, UNICEF) · opérateurs télécoms (tarification zéro du trafic) · universités de Lomé et de Kara (comité scientifique).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de l'équipe · parité de référence : 655,957 FCFA pour un euro.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L'IMPACT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Togo y gagne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600 000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touchés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9494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accès gratuit et complet aux TP, y compris dans les zones sans électricité ni laboratoire : plus aucun élève examiné sur ce qu'il n'a jamais manipulé.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5566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8 000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45566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enseignants formés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séances prêtes à l'emploi et des démonstrations fiables : moins de temps de préparation, une continuité pédagogique assurée même avec les départs d'enseignants.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494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25 ×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moins cher pour l'État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494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devient exécutable partout pour 297 M FCFA, au lieu d'environ 8 milliards en équipement physique : l'argent public va à l'usage, pas au bâti.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1792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5566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Inédit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piloter sur des données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5566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Statistiques d'usage agrégées et anonymisées : le ministère voit enfin la pratique réelle des TP et pilote sa politique scientifique sur des faits.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6035040"/>
            <a:ext cx="10698480" cy="512064"/>
          </a:xfrm>
          <a:prstGeom prst="roundRect">
            <a:avLst>
              <a:gd name="adj" fmla="val 16071"/>
            </a:avLst>
          </a:prstGeom>
          <a:solidFill>
            <a:srgbClr val="0E7C7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6035040"/>
            <a:ext cx="10149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actif technologique national, réutilisable par d'autres matières : le Togo, référence francophone des TP virtuels.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L'ÉQUIPE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fondateurs, une complémentarité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193395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8" name="Image 1" descr="/home/z/my-project/assets/deck/team_djab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2121408"/>
            <a:ext cx="1371600" cy="1371600"/>
          </a:xfrm>
          <a:prstGeom prst="ellipse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1683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DJABON Ounimborbititou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211683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 et simulateurs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225399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de la plateforme, développement HTML5 des simulateurs, packs hors ligne et données d'usage.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4311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13" name="Image 2" descr="/home/z/my-project/assets/deck/team_rol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2121408"/>
            <a:ext cx="1371600" cy="137160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2599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HOUNKPE Mawulikpimi Roland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82599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Pédagogie et partenariats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96315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avec les inspecteurs, comité scientifique, formation des enseignants et partenariats.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979676" y="5614416"/>
            <a:ext cx="8229600" cy="566928"/>
          </a:xfrm>
          <a:prstGeom prst="roundRect">
            <a:avLst>
              <a:gd name="adj" fmla="val 14516"/>
            </a:avLst>
          </a:prstGeom>
          <a:solidFill>
            <a:srgbClr val="DCEBEA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979676" y="5614416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Partagé : le pilote des 40 établissements, la mesure d'impact et le plaidoyer de financement.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Ancrage local : Université de Lomé · AIMS Ghana (African Institute for Mathematical Sciences).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5C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assets/deck_v2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291840"/>
            <a:ext cx="4005072" cy="2368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4" name="Image 1" descr="/home/z/my-project/assets/deck_v2/fa_Fa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534924"/>
            <a:ext cx="192024" cy="19202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32688" y="42062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96112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demande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960120" y="2011680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60120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1956816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Votre regard critique et votre appui scientifique</a:t>
            </a:r>
            <a:endParaRPr lang="en-US" sz="185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2359152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 le concept, le catalogue et le protocole d'évaluation du pilote, en vue du comité scientifique avec l'Université de Lomé et l'Université de Kara.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3236976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60120" y="32369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3182112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mise en relation au ministère</a:t>
            </a:r>
            <a:endParaRPr lang="en-US" sz="185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3584448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 ne demandons pas que vous financiez, mais que vous ouvriez la porte du ministère pour cadrer le catalogue TP par TP avec les inspecteurs.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0120" y="4462272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60120" y="4462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4407408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 orientations vers les bons guichets</a:t>
            </a:r>
            <a:endParaRPr lang="en-US" sz="1850" dirty="0"/>
          </a:p>
        </p:txBody>
      </p:sp>
      <p:sp>
        <p:nvSpPr>
          <p:cNvPr id="18" name="Text 14"/>
          <p:cNvSpPr txBox="1"/>
          <p:nvPr/>
        </p:nvSpPr>
        <p:spPr>
          <a:xfrm>
            <a:off x="1691640" y="4809744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GPE, AFD, GIZ, UNICEF : aidez-nous à affiner le montage de 297 M FCFA et à saisir la fenêtre 2026-2027 avant quelqu'un d'autre.</a:t>
            </a:r>
            <a:endParaRPr lang="en-US" sz="1200" dirty="0"/>
          </a:p>
        </p:txBody>
      </p:sp>
      <p:pic>
        <p:nvPicPr>
          <p:cNvPr id="19" name="Image 2" descr="/home/z/my-project/assets/deck_v2/fa_FaPhon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6071616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60350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+228 92 39 97 21   ·   +228 93 21 72 15</a:t>
            </a:r>
            <a:endParaRPr lang="en-US" sz="1100" dirty="0"/>
          </a:p>
        </p:txBody>
      </p:sp>
      <p:pic>
        <p:nvPicPr>
          <p:cNvPr id="21" name="Image 3" descr="/home/z/my-project/assets/deck_v2/fa_FaEnvelo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645566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641908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djabon@aims.edu.gh   ·   rhounkpe@aims.edu.gh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VirtuLab Togo · Équipe ExamBoost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VirtuLab Togo · Plateforme nationale de travaux pratiques virtuels</dc:title>
  <dc:subject>Présentation de crédibilité scientifique et demande de parrainage</dc:subject>
  <dc:creator>DJABON Ounimborbititou &amp; HOUNKPE Mawulikpimi Roland</dc:creator>
  <cp:lastModifiedBy>DJABON Ounimborbititou &amp; HOUNKPE Mawulikpimi Roland</cp:lastModifiedBy>
  <cp:revision>1</cp:revision>
  <dcterms:created xsi:type="dcterms:W3CDTF">2026-09-08T10:20:07Z</dcterms:created>
  <dcterms:modified xsi:type="dcterms:W3CDTF">2026-09-08T10:20:07Z</dcterms:modified>
</cp:coreProperties>
</file>