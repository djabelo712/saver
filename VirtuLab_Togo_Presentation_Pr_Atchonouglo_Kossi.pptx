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Établissements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0592A"/>
              </a:solidFill>
              <a:effectLst/>
            </c:spPr>
          </c:dPt>
          <c:dPt>
            <c:idx val="1"/>
            <c:bubble3D val="0"/>
            <c:spPr>
              <a:solidFill>
                <a:srgbClr val="DCEBEA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Sans laboratoire correctement équipé</c:v>
                </c:pt>
                <c:pt idx="1">
                  <c:v>Avec laboratoire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90</c:v>
                </c:pt>
                <c:pt idx="1">
                  <c:v>10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Repères de Cohen</c:v>
                </c:pt>
              </c:strCache>
            </c:strRef>
          </c:tx>
          <c:spPr>
            <a:solidFill>
              <a:srgbClr val="8A959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Effet faible</c:v>
                  </c:pt>
                  <c:pt idx="1">
                    <c:v>Effet modéré</c:v>
                  </c:pt>
                  <c:pt idx="2">
                    <c:v>Effet fort</c:v>
                  </c:pt>
                  <c:pt idx="3">
                    <c:v>Laboratoires virtuels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</c:v>
                </c:pt>
                <c:pt idx="1">
                  <c:v>0.5</c:v>
                </c:pt>
                <c:pt idx="2">
                  <c:v>0.8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Méta-analyse 2024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Effet faible</c:v>
                  </c:pt>
                  <c:pt idx="1">
                    <c:v>Effet modéré</c:v>
                  </c:pt>
                  <c:pt idx="2">
                    <c:v>Effet fort</c:v>
                  </c:pt>
                  <c:pt idx="3">
                    <c:v>Laboratoires virtuels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0.686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050" u="none">
                  <a:solidFill>
                    <a:srgbClr val="22333B"/>
                  </a:solidFill>
                  <a:latin typeface="Trebuchet M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2333B"/>
                </a:solidFill>
                <a:latin typeface="Trebuchet M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DE8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7B80"/>
                </a:solidFill>
                <a:latin typeface="Trebuchet MS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Pilote</c:v>
                </c:pt>
              </c:strCache>
            </c:strRef>
          </c:tx>
          <c:spPr>
            <a:solidFill>
              <a:srgbClr val="8A959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/>
                </c:pt>
                <c:pt idx="2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Extension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300</c:v>
                </c:pt>
                <c:pt idx="2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National</c:v>
                </c:pt>
              </c:strCache>
            </c:strRef>
          </c:tx>
          <c:spPr>
            <a:solidFill>
              <a:srgbClr val="E0592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/>
                </c:pt>
                <c:pt idx="1">
                  <c:v/>
                </c:pt>
                <c:pt idx="2">
                  <c:v>800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22333B"/>
                  </a:solidFill>
                  <a:latin typeface="Trebuchet M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2333B"/>
                </a:solidFill>
                <a:latin typeface="Trebuchet M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8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Budget annuel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0&quot; M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117</c:v>
                </c:pt>
                <c:pt idx="1">
                  <c:v>85</c:v>
                </c:pt>
                <c:pt idx="2">
                  <c:v>95</c:v>
                </c:pt>
              </c:numCache>
            </c:numRef>
          </c:val>
        </c:ser>
        <c:dLbls>
          <c:numFmt formatCode="0&quot; M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22333B"/>
                  </a:solidFill>
                  <a:latin typeface="Trebuchet M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2333B"/>
                </a:solidFill>
                <a:latin typeface="Trebuchet M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5.png"/><Relationship Id="rId7" Type="http://schemas.openxmlformats.org/officeDocument/2006/relationships/image" Target="../media/image-4-5.png"/><Relationship Id="rId8" Type="http://schemas.openxmlformats.org/officeDocument/2006/relationships/image" Target="../media/image-4-5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559552" cy="68580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713232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VirtuLab Togo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64208"/>
            <a:ext cx="47091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50" i="1" dirty="0">
                <a:solidFill>
                  <a:srgbClr val="DCEB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Plateforme nationale de travaux pratiques virtuels</a:t>
            </a:r>
            <a:endParaRPr lang="en-US" sz="17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50" i="1" dirty="0">
                <a:solidFill>
                  <a:srgbClr val="DCEB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pour le collège et le lycée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502920" y="2871216"/>
            <a:ext cx="1444752" cy="896112"/>
          </a:xfrm>
          <a:prstGeom prst="roundRect">
            <a:avLst>
              <a:gd name="adj" fmla="val 9184"/>
            </a:avLst>
          </a:prstGeom>
          <a:solidFill>
            <a:srgbClr val="FFFFFF">
              <a:alpha val="13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2962656"/>
            <a:ext cx="1444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120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39496" y="3383280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SIMULATEURS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2057400" y="2871216"/>
            <a:ext cx="1444752" cy="896112"/>
          </a:xfrm>
          <a:prstGeom prst="roundRect">
            <a:avLst>
              <a:gd name="adj" fmla="val 9184"/>
            </a:avLst>
          </a:prstGeom>
          <a:solidFill>
            <a:srgbClr val="FFFFFF">
              <a:alpha val="13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57400" y="2962656"/>
            <a:ext cx="1444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2093976" y="3383280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MATIÈRES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3611880" y="2871216"/>
            <a:ext cx="1444752" cy="896112"/>
          </a:xfrm>
          <a:prstGeom prst="roundRect">
            <a:avLst>
              <a:gd name="adj" fmla="val 9184"/>
            </a:avLst>
          </a:prstGeom>
          <a:solidFill>
            <a:srgbClr val="FFFFFF">
              <a:alpha val="13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2962656"/>
            <a:ext cx="1444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6e · Tle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3648456" y="3383280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COLLÈGE ET LYCÉE</a:t>
            </a:r>
            <a:endParaRPr lang="en-US" sz="78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133088"/>
            <a:ext cx="4846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Présenté au Professeur ATCHONOUGLO Kossi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791456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Directeur de la DSRI · Université de Lomé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5522976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DJABON Ounimborbititou   ·   HOUNKPE Mawulikpimi Roland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5815584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Université de Lomé   ·   AIMS Ghana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6089904"/>
            <a:ext cx="4892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Septembre 2026</a:t>
            </a:r>
            <a:endParaRPr lang="en-US" sz="1000" dirty="0"/>
          </a:p>
        </p:txBody>
      </p:sp>
      <p:pic>
        <p:nvPicPr>
          <p:cNvPr id="19" name="Image 0" descr="/home/z/my-project/assets/deck_v2/cover_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9552" y="0"/>
            <a:ext cx="6629400" cy="4261104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5559552" y="4261104"/>
            <a:ext cx="6629400" cy="45720"/>
          </a:xfrm>
          <a:prstGeom prst="rect">
            <a:avLst/>
          </a:prstGeom>
          <a:solidFill>
            <a:srgbClr val="F5F2E9"/>
          </a:solidFill>
          <a:ln/>
        </p:spPr>
      </p:sp>
      <p:pic>
        <p:nvPicPr>
          <p:cNvPr id="21" name="Image 1" descr="/home/z/my-project/assets/deck_v2/cover_lab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4306824"/>
            <a:ext cx="6629400" cy="25511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GlobeAfr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PROBLÈME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réforme des TP bute sur le manque de laboratoires</a:t>
            </a:r>
            <a:endParaRPr lang="en-US" sz="285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700784"/>
            <a:ext cx="64922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ministère a inscrit les TP au programme du collège et du lycée. Le laboratoire, lui, manque presque partout.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57200" y="2542032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E0592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57200" y="25420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" y="2468880"/>
            <a:ext cx="5897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TP « racontés » au tableau plutôt que pratiqués, faute de matériel dans les salles.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362102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E0592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6210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042416" y="3547872"/>
            <a:ext cx="5897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Plusieurs millions de FCFA pour un seul laboratoire complet : hors de portée du budget public.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57200" y="470001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E0592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470001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42416" y="4626864"/>
            <a:ext cx="5897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 élèves des zones reculées préparent des épreuves portant sur des manipulations qu'ils n'ont jamais réalisées.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269480" y="1700784"/>
            <a:ext cx="443484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9050">
            <a:solidFill>
              <a:srgbClr val="F8E4D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543800" y="1920240"/>
            <a:ext cx="3886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915 214</a:t>
            </a:r>
            <a:endParaRPr lang="en-US" sz="4200" dirty="0"/>
          </a:p>
        </p:txBody>
      </p:sp>
      <p:sp>
        <p:nvSpPr>
          <p:cNvPr id="19" name="Text 16"/>
          <p:cNvSpPr txBox="1"/>
          <p:nvPr/>
        </p:nvSpPr>
        <p:spPr>
          <a:xfrm>
            <a:off x="7635240" y="2706624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élèves du secondaire au Togo sont concernés par la réforme des TP.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7635240" y="3529584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Banque mondiale et ISU, 2023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269480" y="4133088"/>
            <a:ext cx="443484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9050">
            <a:solidFill>
              <a:srgbClr val="DCEBE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269480" y="4133088"/>
            <a:ext cx="82296" cy="19385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62088" y="4334256"/>
            <a:ext cx="38679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50" i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Les TP sont souvent racontés au tableau plutôt que pratiqués. »</a:t>
            </a:r>
            <a:endParaRPr lang="en-US" sz="1450" dirty="0"/>
          </a:p>
        </p:txBody>
      </p:sp>
      <p:sp>
        <p:nvSpPr>
          <p:cNvPr id="24" name="Text 21"/>
          <p:cNvSpPr txBox="1"/>
          <p:nvPr/>
        </p:nvSpPr>
        <p:spPr>
          <a:xfrm>
            <a:off x="7562088" y="5468112"/>
            <a:ext cx="38679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Constat récurrent des inspections dans les salles sans matériel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Banque mondiale et Institut de statistique de l'UNESCO (2023) ; Direction de la Planification de l'Éducation, Togo (2025).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MapMarker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PROBLÈME EN CHIFFRES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coûterait l'équipement physique de tout le pays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773936"/>
            <a:ext cx="521208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943600" y="1773936"/>
            <a:ext cx="576072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76656" y="190195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besoin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31520" y="2432304"/>
          <a:ext cx="214884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017520" y="256032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90 %</a:t>
            </a:r>
            <a:endParaRPr lang="en-US" sz="3100" dirty="0"/>
          </a:p>
        </p:txBody>
      </p:sp>
      <p:sp>
        <p:nvSpPr>
          <p:cNvPr id="12" name="Text 8"/>
          <p:cNvSpPr txBox="1"/>
          <p:nvPr/>
        </p:nvSpPr>
        <p:spPr>
          <a:xfrm>
            <a:off x="3017520" y="3163824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établissements secondaires d'Afrique n'ont pas de laboratoire correctement équipé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017520" y="411480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MOHAC Africa, 2026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786384" y="4718304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E0592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1005840" y="46634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Sans laboratoire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2011680" y="4718304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DCEBEA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231136" y="4663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Avec laboratoire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13232" y="4901184"/>
            <a:ext cx="4700016" cy="12802"/>
          </a:xfrm>
          <a:prstGeom prst="rect">
            <a:avLst/>
          </a:prstGeom>
          <a:solidFill>
            <a:srgbClr val="EDE8DA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713232" y="4992624"/>
            <a:ext cx="47000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 Togo : </a:t>
            </a:r>
            <a:pPr algn="l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697 532 collégiens</a:t>
            </a:r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et </a:t>
            </a:r>
            <a:pPr algn="l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750 lycées</a:t>
            </a:r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attendent cette pratique.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163056" y="1901952"/>
            <a:ext cx="53218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 que coûterait l'équipement physique, sans VirtuLab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181344" y="2340864"/>
            <a:ext cx="1554480" cy="969264"/>
          </a:xfrm>
          <a:prstGeom prst="roundRect">
            <a:avLst>
              <a:gd name="adj" fmla="val 7547"/>
            </a:avLst>
          </a:prstGeom>
          <a:solidFill>
            <a:srgbClr val="F8E4D9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181344" y="2450592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M FCFA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6236208" y="2907792"/>
            <a:ext cx="1444752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 laboratoire complet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7735824" y="2340864"/>
            <a:ext cx="27432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7B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</a:t>
            </a:r>
            <a:endParaRPr lang="en-US" sz="2000" dirty="0"/>
          </a:p>
        </p:txBody>
      </p:sp>
      <p:sp>
        <p:nvSpPr>
          <p:cNvPr id="25" name="Shape 21"/>
          <p:cNvSpPr/>
          <p:nvPr/>
        </p:nvSpPr>
        <p:spPr>
          <a:xfrm>
            <a:off x="8010144" y="2340864"/>
            <a:ext cx="1188720" cy="969264"/>
          </a:xfrm>
          <a:prstGeom prst="roundRect">
            <a:avLst>
              <a:gd name="adj" fmla="val 7547"/>
            </a:avLst>
          </a:prstGeom>
          <a:solidFill>
            <a:srgbClr val="F8E4D9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8010144" y="2450592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800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8055864" y="290779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établissements visés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9198864" y="2340864"/>
            <a:ext cx="27432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7B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9473184" y="2340864"/>
            <a:ext cx="1993392" cy="969264"/>
          </a:xfrm>
          <a:prstGeom prst="roundRect">
            <a:avLst>
              <a:gd name="adj" fmla="val 7547"/>
            </a:avLst>
          </a:prstGeom>
          <a:solidFill>
            <a:srgbClr val="E0592A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473184" y="245059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12 milliards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9473184" y="2907792"/>
            <a:ext cx="1993392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FCFA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6181344" y="3474720"/>
            <a:ext cx="528523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 ce n'est pas fini : 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consommables et de la maintenance à financer chaque année, dans chaque établissement.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6181344" y="4059936"/>
            <a:ext cx="5285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Encore faut-il l'électricité pour qu'un laboratoire fonctionne :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6181344" y="4370832"/>
            <a:ext cx="4334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Électrification nationale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10515600" y="437083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61,1 %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6181344" y="4663440"/>
            <a:ext cx="5248656" cy="128016"/>
          </a:xfrm>
          <a:prstGeom prst="roundRect">
            <a:avLst>
              <a:gd name="adj" fmla="val 50000"/>
            </a:avLst>
          </a:prstGeom>
          <a:solidFill>
            <a:srgbClr val="EDE8DA"/>
          </a:solidFill>
          <a:ln/>
        </p:spPr>
      </p:sp>
      <p:sp>
        <p:nvSpPr>
          <p:cNvPr id="37" name="Shape 33"/>
          <p:cNvSpPr/>
          <p:nvPr/>
        </p:nvSpPr>
        <p:spPr>
          <a:xfrm>
            <a:off x="6181344" y="4663440"/>
            <a:ext cx="3206929" cy="128016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6181344" y="4919472"/>
            <a:ext cx="4334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Électrification en zones rurales</a:t>
            </a:r>
            <a:endParaRPr lang="en-US" sz="1100" dirty="0"/>
          </a:p>
        </p:txBody>
      </p:sp>
      <p:sp>
        <p:nvSpPr>
          <p:cNvPr id="39" name="Text 35"/>
          <p:cNvSpPr txBox="1"/>
          <p:nvPr/>
        </p:nvSpPr>
        <p:spPr>
          <a:xfrm>
            <a:off x="10515600" y="491947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E059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33,9 %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6181344" y="5212080"/>
            <a:ext cx="5248656" cy="128016"/>
          </a:xfrm>
          <a:prstGeom prst="roundRect">
            <a:avLst>
              <a:gd name="adj" fmla="val 50000"/>
            </a:avLst>
          </a:prstGeom>
          <a:solidFill>
            <a:srgbClr val="EDE8DA"/>
          </a:solidFill>
          <a:ln/>
        </p:spPr>
      </p:sp>
      <p:sp>
        <p:nvSpPr>
          <p:cNvPr id="41" name="Shape 37"/>
          <p:cNvSpPr/>
          <p:nvPr/>
        </p:nvSpPr>
        <p:spPr>
          <a:xfrm>
            <a:off x="6181344" y="5212080"/>
            <a:ext cx="1779294" cy="128016"/>
          </a:xfrm>
          <a:prstGeom prst="roundRect">
            <a:avLst>
              <a:gd name="adj" fmla="val 50000"/>
            </a:avLst>
          </a:prstGeom>
          <a:solidFill>
            <a:srgbClr val="E0592A"/>
          </a:solidFill>
          <a:ln/>
        </p:spPr>
      </p:sp>
      <p:sp>
        <p:nvSpPr>
          <p:cNvPr id="42" name="Shape 38"/>
          <p:cNvSpPr/>
          <p:nvPr/>
        </p:nvSpPr>
        <p:spPr>
          <a:xfrm>
            <a:off x="457200" y="5669280"/>
            <a:ext cx="11247120" cy="603504"/>
          </a:xfrm>
          <a:prstGeom prst="roundRect">
            <a:avLst>
              <a:gd name="adj" fmla="val 13636"/>
            </a:avLst>
          </a:prstGeom>
          <a:solidFill>
            <a:srgbClr val="0A5C5B"/>
          </a:solidFill>
          <a:ln/>
        </p:spPr>
      </p:sp>
      <p:sp>
        <p:nvSpPr>
          <p:cNvPr id="43" name="Text 39"/>
          <p:cNvSpPr txBox="1"/>
          <p:nvPr/>
        </p:nvSpPr>
        <p:spPr>
          <a:xfrm>
            <a:off x="731520" y="5669280"/>
            <a:ext cx="106984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réforme exige des TP partout. Un budget de laboratoires partout n'existe pas : la pratique reste concentrée dans quelques établissements urbains.</a:t>
            </a:r>
            <a:endParaRPr lang="en-US" sz="1250" dirty="0"/>
          </a:p>
        </p:txBody>
      </p:sp>
      <p:sp>
        <p:nvSpPr>
          <p:cNvPr id="44" name="Text 40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MOHAC Africa (2026) ; Banque mondiale (2024). Hypothèse prudente de l'équipe : 10 à 20 M FCFA par laboratoire, à affiner avec les services du ministère.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At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SOLUTION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VirtuLab Togo : le laboratoire dans chaque poche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66420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 plateforme web publique et gratuite : tous les TP du programme officiel en simulateurs numériques, utilisables sans réseau.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57200" y="2176272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4944" y="2414016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0E7C7B"/>
          </a:solidFill>
          <a:ln/>
        </p:spPr>
      </p:sp>
      <p:pic>
        <p:nvPicPr>
          <p:cNvPr id="10" name="Image 1" descr="/home/z/my-project/assets/deck_v2/fa_FaA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" y="2564892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14600" y="2432304"/>
            <a:ext cx="13167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TP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94944" y="3127248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Physique-chimie</a:t>
            </a:r>
            <a:endParaRPr lang="en-US" sz="1650" dirty="0"/>
          </a:p>
        </p:txBody>
      </p:sp>
      <p:sp>
        <p:nvSpPr>
          <p:cNvPr id="13" name="Text 9"/>
          <p:cNvSpPr txBox="1"/>
          <p:nvPr/>
        </p:nvSpPr>
        <p:spPr>
          <a:xfrm>
            <a:off x="694944" y="3529584"/>
            <a:ext cx="31363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Circuits, optique, mécanique, dosage des solutions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274820" y="2176272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12564" y="2414016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E0592A"/>
          </a:solidFill>
          <a:ln/>
        </p:spPr>
      </p:sp>
      <p:pic>
        <p:nvPicPr>
          <p:cNvPr id="16" name="Image 2" descr="/home/z/my-project/assets/deck_v2/fa_FaLea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56489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2220" y="2432304"/>
            <a:ext cx="13167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59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 TP</a:t>
            </a:r>
            <a:endParaRPr lang="en-US" sz="2400" dirty="0"/>
          </a:p>
        </p:txBody>
      </p:sp>
      <p:sp>
        <p:nvSpPr>
          <p:cNvPr id="18" name="Text 13"/>
          <p:cNvSpPr txBox="1"/>
          <p:nvPr/>
        </p:nvSpPr>
        <p:spPr>
          <a:xfrm>
            <a:off x="4512564" y="3127248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SVT</a:t>
            </a:r>
            <a:endParaRPr lang="en-US" sz="1650" dirty="0"/>
          </a:p>
        </p:txBody>
      </p:sp>
      <p:sp>
        <p:nvSpPr>
          <p:cNvPr id="19" name="Text 14"/>
          <p:cNvSpPr txBox="1"/>
          <p:nvPr/>
        </p:nvSpPr>
        <p:spPr>
          <a:xfrm>
            <a:off x="4512564" y="3529584"/>
            <a:ext cx="31363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Cellule, génétique, écosystèmes, nutrition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092440" y="2176272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330184" y="2414016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8A959B"/>
          </a:solidFill>
          <a:ln/>
        </p:spPr>
      </p:sp>
      <p:pic>
        <p:nvPicPr>
          <p:cNvPr id="22" name="Image 3" descr="/home/z/my-project/assets/deck_v2/fa_FaSquareRoot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1060" y="256489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149840" y="2432304"/>
            <a:ext cx="13167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TP</a:t>
            </a:r>
            <a:endParaRPr lang="en-US" sz="2400" dirty="0"/>
          </a:p>
        </p:txBody>
      </p:sp>
      <p:sp>
        <p:nvSpPr>
          <p:cNvPr id="24" name="Text 18"/>
          <p:cNvSpPr txBox="1"/>
          <p:nvPr/>
        </p:nvSpPr>
        <p:spPr>
          <a:xfrm>
            <a:off x="8330184" y="3127248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Mathématiques</a:t>
            </a:r>
            <a:endParaRPr lang="en-US" sz="1650" dirty="0"/>
          </a:p>
        </p:txBody>
      </p:sp>
      <p:sp>
        <p:nvSpPr>
          <p:cNvPr id="25" name="Text 19"/>
          <p:cNvSpPr txBox="1"/>
          <p:nvPr/>
        </p:nvSpPr>
        <p:spPr>
          <a:xfrm>
            <a:off x="8330184" y="3529584"/>
            <a:ext cx="31363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Fonctions, géométrie dynamique, statistiques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57200" y="4498848"/>
            <a:ext cx="1124712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13232" y="4608576"/>
            <a:ext cx="23774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la 6e à la terminale</a:t>
            </a:r>
            <a:endParaRPr lang="en-US" sz="1450" dirty="0"/>
          </a:p>
        </p:txBody>
      </p:sp>
      <p:sp>
        <p:nvSpPr>
          <p:cNvPr id="28" name="Shape 22"/>
          <p:cNvSpPr/>
          <p:nvPr/>
        </p:nvSpPr>
        <p:spPr>
          <a:xfrm>
            <a:off x="3154680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29" name="Text 23"/>
          <p:cNvSpPr txBox="1"/>
          <p:nvPr/>
        </p:nvSpPr>
        <p:spPr>
          <a:xfrm>
            <a:off x="3154680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6e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4123944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4123944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5e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5093208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33" name="Text 27"/>
          <p:cNvSpPr txBox="1"/>
          <p:nvPr/>
        </p:nvSpPr>
        <p:spPr>
          <a:xfrm>
            <a:off x="5093208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4e</a:t>
            </a:r>
            <a:endParaRPr lang="en-US" sz="1300" dirty="0"/>
          </a:p>
        </p:txBody>
      </p:sp>
      <p:sp>
        <p:nvSpPr>
          <p:cNvPr id="34" name="Shape 28"/>
          <p:cNvSpPr/>
          <p:nvPr/>
        </p:nvSpPr>
        <p:spPr>
          <a:xfrm>
            <a:off x="6062472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6062472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3e</a:t>
            </a:r>
            <a:endParaRPr lang="en-US" sz="1300" dirty="0"/>
          </a:p>
        </p:txBody>
      </p:sp>
      <p:sp>
        <p:nvSpPr>
          <p:cNvPr id="36" name="Shape 30"/>
          <p:cNvSpPr/>
          <p:nvPr/>
        </p:nvSpPr>
        <p:spPr>
          <a:xfrm>
            <a:off x="7031736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F8E4D9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7031736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2de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8001000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F8E4D9"/>
          </a:solidFill>
          <a:ln/>
        </p:spPr>
      </p:sp>
      <p:sp>
        <p:nvSpPr>
          <p:cNvPr id="39" name="Text 33"/>
          <p:cNvSpPr txBox="1"/>
          <p:nvPr/>
        </p:nvSpPr>
        <p:spPr>
          <a:xfrm>
            <a:off x="8001000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1re</a:t>
            </a:r>
            <a:endParaRPr lang="en-US" sz="1300" dirty="0"/>
          </a:p>
        </p:txBody>
      </p:sp>
      <p:sp>
        <p:nvSpPr>
          <p:cNvPr id="40" name="Shape 34"/>
          <p:cNvSpPr/>
          <p:nvPr/>
        </p:nvSpPr>
        <p:spPr>
          <a:xfrm>
            <a:off x="8970264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F8E4D9"/>
          </a:solidFill>
          <a:ln/>
        </p:spPr>
      </p:sp>
      <p:sp>
        <p:nvSpPr>
          <p:cNvPr id="41" name="Text 35"/>
          <p:cNvSpPr txBox="1"/>
          <p:nvPr/>
        </p:nvSpPr>
        <p:spPr>
          <a:xfrm>
            <a:off x="8970264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Tle</a:t>
            </a:r>
            <a:endParaRPr lang="en-US" sz="1300" dirty="0"/>
          </a:p>
        </p:txBody>
      </p:sp>
      <p:sp>
        <p:nvSpPr>
          <p:cNvPr id="42" name="Text 36"/>
          <p:cNvSpPr txBox="1"/>
          <p:nvPr/>
        </p:nvSpPr>
        <p:spPr>
          <a:xfrm>
            <a:off x="3154680" y="5193792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0E7C7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COLLÈGE</a:t>
            </a:r>
            <a:endParaRPr lang="en-US" sz="850" dirty="0"/>
          </a:p>
        </p:txBody>
      </p:sp>
      <p:sp>
        <p:nvSpPr>
          <p:cNvPr id="43" name="Text 37"/>
          <p:cNvSpPr txBox="1"/>
          <p:nvPr/>
        </p:nvSpPr>
        <p:spPr>
          <a:xfrm>
            <a:off x="7031736" y="5193792"/>
            <a:ext cx="27797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E059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LYCÉE</a:t>
            </a:r>
            <a:endParaRPr lang="en-US" sz="850" dirty="0"/>
          </a:p>
        </p:txBody>
      </p:sp>
      <p:sp>
        <p:nvSpPr>
          <p:cNvPr id="44" name="Shape 38"/>
          <p:cNvSpPr/>
          <p:nvPr/>
        </p:nvSpPr>
        <p:spPr>
          <a:xfrm>
            <a:off x="45720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45" name="Image 4" descr="/home/z/my-project/assets/deck_v2/fa_FaCheck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5925312"/>
            <a:ext cx="201168" cy="201168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89611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Gratuit pour tous</a:t>
            </a:r>
            <a:endParaRPr lang="en-US" sz="1150" dirty="0"/>
          </a:p>
        </p:txBody>
      </p:sp>
      <p:sp>
        <p:nvSpPr>
          <p:cNvPr id="47" name="Shape 40"/>
          <p:cNvSpPr/>
          <p:nvPr/>
        </p:nvSpPr>
        <p:spPr>
          <a:xfrm>
            <a:off x="330708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48" name="Image 5" descr="/home/z/my-project/assets/deck_v2/fa_FaCheckCirc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9960" y="5925312"/>
            <a:ext cx="201168" cy="201168"/>
          </a:xfrm>
          <a:prstGeom prst="rect">
            <a:avLst/>
          </a:prstGeom>
        </p:spPr>
      </p:pic>
      <p:sp>
        <p:nvSpPr>
          <p:cNvPr id="49" name="Text 41"/>
          <p:cNvSpPr txBox="1"/>
          <p:nvPr/>
        </p:nvSpPr>
        <p:spPr>
          <a:xfrm>
            <a:off x="374599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Hors ligne d'abord</a:t>
            </a:r>
            <a:endParaRPr lang="en-US" sz="1150" dirty="0"/>
          </a:p>
        </p:txBody>
      </p:sp>
      <p:sp>
        <p:nvSpPr>
          <p:cNvPr id="50" name="Shape 42"/>
          <p:cNvSpPr/>
          <p:nvPr/>
        </p:nvSpPr>
        <p:spPr>
          <a:xfrm>
            <a:off x="615696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51" name="Image 6" descr="/home/z/my-project/assets/deck_v2/fa_FaCheck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9840" y="5925312"/>
            <a:ext cx="201168" cy="201168"/>
          </a:xfrm>
          <a:prstGeom prst="rect">
            <a:avLst/>
          </a:prstGeom>
        </p:spPr>
      </p:pic>
      <p:sp>
        <p:nvSpPr>
          <p:cNvPr id="52" name="Text 43"/>
          <p:cNvSpPr txBox="1"/>
          <p:nvPr/>
        </p:nvSpPr>
        <p:spPr>
          <a:xfrm>
            <a:off x="659587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Aligné TP par TP</a:t>
            </a:r>
            <a:endParaRPr lang="en-US" sz="1150" dirty="0"/>
          </a:p>
        </p:txBody>
      </p:sp>
      <p:sp>
        <p:nvSpPr>
          <p:cNvPr id="53" name="Shape 44"/>
          <p:cNvSpPr/>
          <p:nvPr/>
        </p:nvSpPr>
        <p:spPr>
          <a:xfrm>
            <a:off x="900684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54" name="Image 7" descr="/home/z/my-project/assets/deck_v2/fa_FaCheckCirc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9720" y="5925312"/>
            <a:ext cx="201168" cy="201168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944575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 classe et élève</a:t>
            </a:r>
            <a:endParaRPr lang="en-US" sz="1150" dirty="0"/>
          </a:p>
        </p:txBody>
      </p:sp>
      <p:sp>
        <p:nvSpPr>
          <p:cNvPr id="56" name="Text 4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Co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COMMENT ÇA MARCHE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Cinq étapes, du programme officiel à la classe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25296" y="23774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9" name="Image 1" descr="/home/z/my-project/assets/deck_v2/fa_FaBook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523744"/>
            <a:ext cx="292608" cy="29260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090672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1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3328416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Référencer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621792" y="3730752"/>
            <a:ext cx="179222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Cartographie des TP du programme officiel avec les inspecteurs.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2530602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14" name="Shape 10"/>
          <p:cNvSpPr/>
          <p:nvPr/>
        </p:nvSpPr>
        <p:spPr>
          <a:xfrm>
            <a:off x="2738628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506724" y="23774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16" name="Image 2" descr="/home/z/my-project/assets/deck_v2/fa_FaPencilRul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028" y="2523744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2738628" y="3090672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2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2738628" y="3328416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Concevoir</a:t>
            </a:r>
            <a:endParaRPr lang="en-US" sz="1450" dirty="0"/>
          </a:p>
        </p:txBody>
      </p:sp>
      <p:sp>
        <p:nvSpPr>
          <p:cNvPr id="19" name="Text 14"/>
          <p:cNvSpPr txBox="1"/>
          <p:nvPr/>
        </p:nvSpPr>
        <p:spPr>
          <a:xfrm>
            <a:off x="2903220" y="3730752"/>
            <a:ext cx="179222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Scénario pédagogique : objectif, pièges, quiz type examen.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4812030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21" name="Shape 16"/>
          <p:cNvSpPr/>
          <p:nvPr/>
        </p:nvSpPr>
        <p:spPr>
          <a:xfrm>
            <a:off x="5020056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788152" y="23774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23" name="Image 3" descr="/home/z/my-project/assets/deck_v2/fa_FaLaptopCo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456" y="2523744"/>
            <a:ext cx="292608" cy="29260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020056" y="3090672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3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5020056" y="3328416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Développer</a:t>
            </a:r>
            <a:endParaRPr lang="en-US" sz="1450" dirty="0"/>
          </a:p>
        </p:txBody>
      </p:sp>
      <p:sp>
        <p:nvSpPr>
          <p:cNvPr id="26" name="Text 20"/>
          <p:cNvSpPr txBox="1"/>
          <p:nvPr/>
        </p:nvSpPr>
        <p:spPr>
          <a:xfrm>
            <a:off x="5184648" y="3730752"/>
            <a:ext cx="179222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Simulateur HTML5 de 1 à 3 Mo, utilisable en partie localement.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7093458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28" name="Shape 22"/>
          <p:cNvSpPr/>
          <p:nvPr/>
        </p:nvSpPr>
        <p:spPr>
          <a:xfrm>
            <a:off x="7301484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069580" y="23774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30" name="Image 4" descr="/home/z/my-project/assets/deck_v2/fa_FaCheckDoub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5884" y="2523744"/>
            <a:ext cx="292608" cy="29260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301484" y="3090672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4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7301484" y="3328416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Valider</a:t>
            </a:r>
            <a:endParaRPr lang="en-US" sz="1450" dirty="0"/>
          </a:p>
        </p:txBody>
      </p:sp>
      <p:sp>
        <p:nvSpPr>
          <p:cNvPr id="33" name="Text 26"/>
          <p:cNvSpPr txBox="1"/>
          <p:nvPr/>
        </p:nvSpPr>
        <p:spPr>
          <a:xfrm>
            <a:off x="7466076" y="3730752"/>
            <a:ext cx="179222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Double revue : comité scientifique et inspecteurs.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9374886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35" name="Shape 28"/>
          <p:cNvSpPr/>
          <p:nvPr/>
        </p:nvSpPr>
        <p:spPr>
          <a:xfrm>
            <a:off x="9582912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10351008" y="23774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E0592A"/>
          </a:solidFill>
          <a:ln/>
        </p:spPr>
      </p:sp>
      <p:pic>
        <p:nvPicPr>
          <p:cNvPr id="37" name="Image 5" descr="/home/z/my-project/assets/deck_v2/fa_FaChartL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97312" y="2523744"/>
            <a:ext cx="292608" cy="292608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9582912" y="3090672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5</a:t>
            </a:r>
            <a:endParaRPr lang="en-US" sz="900" dirty="0"/>
          </a:p>
        </p:txBody>
      </p:sp>
      <p:sp>
        <p:nvSpPr>
          <p:cNvPr id="39" name="Text 31"/>
          <p:cNvSpPr txBox="1"/>
          <p:nvPr/>
        </p:nvSpPr>
        <p:spPr>
          <a:xfrm>
            <a:off x="9582912" y="3328416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Déployer, mesurer</a:t>
            </a:r>
            <a:endParaRPr lang="en-US" sz="1450" dirty="0"/>
          </a:p>
        </p:txBody>
      </p:sp>
      <p:sp>
        <p:nvSpPr>
          <p:cNvPr id="40" name="Text 32"/>
          <p:cNvSpPr txBox="1"/>
          <p:nvPr/>
        </p:nvSpPr>
        <p:spPr>
          <a:xfrm>
            <a:off x="9747504" y="3730752"/>
            <a:ext cx="179222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 en classe, données agrégées, recalibrage.</a:t>
            </a:r>
            <a:endParaRPr lang="en-US" sz="1050" dirty="0"/>
          </a:p>
        </p:txBody>
      </p:sp>
      <p:sp>
        <p:nvSpPr>
          <p:cNvPr id="41" name="Text 33"/>
          <p:cNvSpPr txBox="1"/>
          <p:nvPr/>
        </p:nvSpPr>
        <p:spPr>
          <a:xfrm>
            <a:off x="457200" y="495604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Boucle de recalibrage : les données d'usage indiquent quels contenus manquent et quoi développer ensuite.</a:t>
            </a:r>
            <a:endParaRPr lang="en-US" sz="1050" dirty="0"/>
          </a:p>
        </p:txBody>
      </p:sp>
      <p:sp>
        <p:nvSpPr>
          <p:cNvPr id="42" name="Shape 34"/>
          <p:cNvSpPr/>
          <p:nvPr/>
        </p:nvSpPr>
        <p:spPr>
          <a:xfrm>
            <a:off x="457200" y="5632704"/>
            <a:ext cx="11247120" cy="548640"/>
          </a:xfrm>
          <a:prstGeom prst="roundRect">
            <a:avLst>
              <a:gd name="adj" fmla="val 15000"/>
            </a:avLst>
          </a:prstGeom>
          <a:solidFill>
            <a:srgbClr val="0E7C7B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731520" y="5632704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Chaque simulateur arrive avec sa fiche pédagogique, son protocole de séance prêt à l'emploi et son quiz-jeu d'évaluation.</a:t>
            </a:r>
            <a:endParaRPr lang="en-US" sz="1200" dirty="0"/>
          </a:p>
        </p:txBody>
      </p:sp>
      <p:sp>
        <p:nvSpPr>
          <p:cNvPr id="44" name="Text 3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Layer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SOCLE TECHNIQUE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architecture qui fonctionne sans réseau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63040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E7C7B"/>
          </a:solidFill>
          <a:ln/>
        </p:spPr>
      </p:sp>
      <p:pic>
        <p:nvPicPr>
          <p:cNvPr id="9" name="Image 1" descr="/home/z/my-project/assets/deck_v2/fa_FaBook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912" y="2130552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12064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PROGRAMME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03504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TP officiels : fiche, protocole et quiz-jeu par séance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041904" y="2560320"/>
            <a:ext cx="237744" cy="201168"/>
          </a:xfrm>
          <a:prstGeom prst="chevron">
            <a:avLst/>
          </a:prstGeom>
          <a:solidFill>
            <a:srgbClr val="0E7C7B"/>
          </a:solidFill>
          <a:ln/>
        </p:spPr>
      </p:sp>
      <p:sp>
        <p:nvSpPr>
          <p:cNvPr id="13" name="Shape 9"/>
          <p:cNvSpPr/>
          <p:nvPr/>
        </p:nvSpPr>
        <p:spPr>
          <a:xfrm>
            <a:off x="3377184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383024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E7C7B"/>
          </a:solidFill>
          <a:ln/>
        </p:spPr>
      </p:sp>
      <p:pic>
        <p:nvPicPr>
          <p:cNvPr id="15" name="Image 2" descr="/home/z/my-project/assets/deck_v2/fa_FaLaptop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896" y="213055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32048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SIMULATEURS HTML5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3523488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à 3 Mo par TP, fluides sur ordinateur et smartphone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5961888" y="2560320"/>
            <a:ext cx="237744" cy="201168"/>
          </a:xfrm>
          <a:prstGeom prst="chevron">
            <a:avLst/>
          </a:prstGeom>
          <a:solidFill>
            <a:srgbClr val="0E7C7B"/>
          </a:solidFill>
          <a:ln/>
        </p:spPr>
      </p:sp>
      <p:sp>
        <p:nvSpPr>
          <p:cNvPr id="19" name="Shape 14"/>
          <p:cNvSpPr/>
          <p:nvPr/>
        </p:nvSpPr>
        <p:spPr>
          <a:xfrm>
            <a:off x="6297168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03008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E0592A"/>
          </a:solidFill>
          <a:ln/>
        </p:spPr>
      </p:sp>
      <p:pic>
        <p:nvPicPr>
          <p:cNvPr id="21" name="Image 3" descr="/home/z/my-project/assets/deck_v2/md_MdWifiO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1880" y="2130552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352032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WEB PROGRESSIVE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6443472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catalogue entier en cache local, synchronisation différée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8881872" y="2560320"/>
            <a:ext cx="237744" cy="201168"/>
          </a:xfrm>
          <a:prstGeom prst="chevron">
            <a:avLst/>
          </a:prstGeom>
          <a:solidFill>
            <a:srgbClr val="0E7C7B"/>
          </a:solidFill>
          <a:ln/>
        </p:spPr>
      </p:sp>
      <p:sp>
        <p:nvSpPr>
          <p:cNvPr id="25" name="Shape 19"/>
          <p:cNvSpPr/>
          <p:nvPr/>
        </p:nvSpPr>
        <p:spPr>
          <a:xfrm>
            <a:off x="9217152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10222992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E7C7B"/>
          </a:solidFill>
          <a:ln/>
        </p:spPr>
      </p:sp>
      <p:pic>
        <p:nvPicPr>
          <p:cNvPr id="27" name="Image 4" descr="/home/z/my-project/assets/deck_v2/fa_FaChalkboardTeach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1864" y="2130552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272016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CLASSE ET MAISON</a:t>
            </a:r>
            <a:endParaRPr lang="en-US" sz="1050" dirty="0"/>
          </a:p>
        </p:txBody>
      </p:sp>
      <p:sp>
        <p:nvSpPr>
          <p:cNvPr id="29" name="Text 22"/>
          <p:cNvSpPr txBox="1"/>
          <p:nvPr/>
        </p:nvSpPr>
        <p:spPr>
          <a:xfrm>
            <a:off x="9363456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 classe projeté ; l'élève rejoue librement chez lui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457200" y="3712464"/>
            <a:ext cx="11247120" cy="859536"/>
          </a:xfrm>
          <a:prstGeom prst="roundRect">
            <a:avLst>
              <a:gd name="adj" fmla="val 9574"/>
            </a:avLst>
          </a:prstGeom>
          <a:solidFill>
            <a:srgbClr val="EDE8DA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694944" y="3785616"/>
            <a:ext cx="3108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5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TROIS CHEMINS JUSQU'À LA CLASSE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3566160" y="3858768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BE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3657600" y="39867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E7C7B"/>
          </a:solidFill>
          <a:ln/>
        </p:spPr>
      </p:sp>
      <p:pic>
        <p:nvPicPr>
          <p:cNvPr id="34" name="Image 5" descr="/home/z/my-project/assets/deck_v2/fa_FaClou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4055364"/>
            <a:ext cx="173736" cy="173736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4041648" y="3858768"/>
            <a:ext cx="2039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 international + miroir national</a:t>
            </a:r>
            <a:endParaRPr lang="en-US" sz="980" dirty="0"/>
          </a:p>
        </p:txBody>
      </p:sp>
      <p:sp>
        <p:nvSpPr>
          <p:cNvPr id="36" name="Shape 28"/>
          <p:cNvSpPr/>
          <p:nvPr/>
        </p:nvSpPr>
        <p:spPr>
          <a:xfrm>
            <a:off x="6281928" y="3858768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BEA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6373368" y="39867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E7C7B"/>
          </a:solidFill>
          <a:ln/>
        </p:spPr>
      </p:sp>
      <p:pic>
        <p:nvPicPr>
          <p:cNvPr id="38" name="Image 6" descr="/home/z/my-project/assets/deck_v2/fa_FaUs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1948" y="4055364"/>
            <a:ext cx="173736" cy="173736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757416" y="3858768"/>
            <a:ext cx="2039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 hors ligne : clé USB ou réseau local</a:t>
            </a:r>
            <a:endParaRPr lang="en-US" sz="980" dirty="0"/>
          </a:p>
        </p:txBody>
      </p:sp>
      <p:sp>
        <p:nvSpPr>
          <p:cNvPr id="40" name="Shape 31"/>
          <p:cNvSpPr/>
          <p:nvPr/>
        </p:nvSpPr>
        <p:spPr>
          <a:xfrm>
            <a:off x="8997696" y="3858768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BEA"/>
            </a:solidFill>
            <a:prstDash val="solid"/>
          </a:ln>
        </p:spPr>
      </p:sp>
      <p:sp>
        <p:nvSpPr>
          <p:cNvPr id="41" name="Shape 32"/>
          <p:cNvSpPr/>
          <p:nvPr/>
        </p:nvSpPr>
        <p:spPr>
          <a:xfrm>
            <a:off x="9089136" y="39867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E7C7B"/>
          </a:solidFill>
          <a:ln/>
        </p:spPr>
      </p:sp>
      <p:pic>
        <p:nvPicPr>
          <p:cNvPr id="42" name="Image 7" descr="/home/z/my-project/assets/deck_v2/fa_FaSolarPane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57716" y="4055364"/>
            <a:ext cx="173736" cy="173736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473184" y="3858768"/>
            <a:ext cx="2039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Smartphone + kit solaire, même sans électricité</a:t>
            </a:r>
            <a:endParaRPr lang="en-US" sz="980" dirty="0"/>
          </a:p>
        </p:txBody>
      </p:sp>
      <p:sp>
        <p:nvSpPr>
          <p:cNvPr id="44" name="Shape 34"/>
          <p:cNvSpPr/>
          <p:nvPr/>
        </p:nvSpPr>
        <p:spPr>
          <a:xfrm>
            <a:off x="457200" y="4828032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0A5C5B"/>
          </a:solidFill>
          <a:ln w="15875">
            <a:solidFill>
              <a:srgbClr val="0E7C7B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658368" y="5047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7B"/>
          </a:solidFill>
          <a:ln/>
        </p:spPr>
      </p:sp>
      <p:pic>
        <p:nvPicPr>
          <p:cNvPr id="46" name="Image 8" descr="/home/z/my-project/assets/deck_v2/fa_FaSyncAl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668" y="5161788"/>
            <a:ext cx="228600" cy="228600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1243584" y="5010912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boucle de données</a:t>
            </a:r>
            <a:endParaRPr lang="en-US" sz="1400" dirty="0"/>
          </a:p>
        </p:txBody>
      </p:sp>
      <p:sp>
        <p:nvSpPr>
          <p:cNvPr id="48" name="Text 37"/>
          <p:cNvSpPr txBox="1"/>
          <p:nvPr/>
        </p:nvSpPr>
        <p:spPr>
          <a:xfrm>
            <a:off x="1243584" y="5340096"/>
            <a:ext cx="448056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 agrégé et anonymisé : un tableau de bord pour le ministère et un recalibrage continu du catalogue.</a:t>
            </a:r>
            <a:endParaRPr lang="en-US" sz="1050" dirty="0"/>
          </a:p>
        </p:txBody>
      </p:sp>
      <p:sp>
        <p:nvSpPr>
          <p:cNvPr id="49" name="Shape 38"/>
          <p:cNvSpPr/>
          <p:nvPr/>
        </p:nvSpPr>
        <p:spPr>
          <a:xfrm>
            <a:off x="6217920" y="4828032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E0592A"/>
            </a:solidFill>
            <a:prstDash val="solid"/>
          </a:ln>
        </p:spPr>
      </p:sp>
      <p:sp>
        <p:nvSpPr>
          <p:cNvPr id="50" name="Shape 39"/>
          <p:cNvSpPr/>
          <p:nvPr/>
        </p:nvSpPr>
        <p:spPr>
          <a:xfrm>
            <a:off x="6419088" y="5047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0592A"/>
          </a:solidFill>
          <a:ln/>
        </p:spPr>
      </p:sp>
      <p:pic>
        <p:nvPicPr>
          <p:cNvPr id="51" name="Image 9" descr="/home/z/my-project/assets/deck_v2/fa_FaGamepa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3388" y="5161788"/>
            <a:ext cx="228600" cy="228600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7004304" y="5010912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 les quiz deviennent des jeux</a:t>
            </a:r>
            <a:endParaRPr lang="en-US" sz="1400" dirty="0"/>
          </a:p>
        </p:txBody>
      </p:sp>
      <p:sp>
        <p:nvSpPr>
          <p:cNvPr id="53" name="Text 41"/>
          <p:cNvSpPr txBox="1"/>
          <p:nvPr/>
        </p:nvSpPr>
        <p:spPr>
          <a:xfrm>
            <a:off x="7004304" y="5340096"/>
            <a:ext cx="45262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Points, badges et défis entre classes, aux formats BEPC et baccalauréat : la répétition qui ancre les notions devient un plaisir.</a:t>
            </a:r>
            <a:endParaRPr lang="en-US" sz="1050" dirty="0"/>
          </a:p>
        </p:txBody>
      </p:sp>
      <p:sp>
        <p:nvSpPr>
          <p:cNvPr id="54" name="Text 42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Fl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ÇA VA MARCHER · LES PREUVES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 effets mesurés, un avantage économique décisif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719072"/>
            <a:ext cx="6035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Taille d'effet (Hedges g) des laboratoires virtuels sur les apprentissages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2066544"/>
          <a:ext cx="60350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175504"/>
            <a:ext cx="60350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Méta-analyse Li et Liang (2024), PLOS ONE : g = 0,686. En clair : un élève soutenu par des TP virtuels progresse mieux qu'environ 75 % des élèves enseignés sans.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6903720" y="1719072"/>
            <a:ext cx="4828032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50024" y="1773936"/>
            <a:ext cx="1188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89 %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8293608" y="1773936"/>
            <a:ext cx="32735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élèves montrent des gains de connaissances mesurables avec les laboratoires virtuels (Labster).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903720" y="2688336"/>
            <a:ext cx="4828032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050024" y="2743200"/>
            <a:ext cx="1188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Science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8293608" y="2743200"/>
            <a:ext cx="32735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 Jong, Linn et Zacharia (2013) : combiné virtuel + réel, les meilleurs apprentissages.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903720" y="3767328"/>
            <a:ext cx="4828032" cy="2340864"/>
          </a:xfrm>
          <a:prstGeom prst="roundRect">
            <a:avLst>
              <a:gd name="adj" fmla="val 3906"/>
            </a:avLst>
          </a:prstGeom>
          <a:solidFill>
            <a:srgbClr val="0A5C5B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123176" y="3895344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F8E4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 qu'on gagne en choisissant le virtuel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123176" y="4279392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Laboratoires physiques · 800 établissements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9720072" y="4279392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 12 milliards FCFA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7123176" y="4517136"/>
            <a:ext cx="4389120" cy="155448"/>
          </a:xfrm>
          <a:prstGeom prst="roundRect">
            <a:avLst>
              <a:gd name="adj" fmla="val 50000"/>
            </a:avLst>
          </a:prstGeom>
          <a:solidFill>
            <a:srgbClr val="E0592A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123176" y="4791456"/>
            <a:ext cx="2514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VirtuLab · mêmes 800 établissements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9720072" y="4791456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297 M FCFA sur 3 ans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7123176" y="5029200"/>
            <a:ext cx="128016" cy="155448"/>
          </a:xfrm>
          <a:prstGeom prst="roundRect">
            <a:avLst>
              <a:gd name="adj" fmla="val 60714"/>
            </a:avLst>
          </a:prstGeom>
          <a:solidFill>
            <a:srgbClr val="DCEBEA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7123176" y="5285232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8E4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40 × moins cher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7123176" y="57790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 il fonctionne là où le courant et le réseau manquent.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6903720" y="6199632"/>
            <a:ext cx="4828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Preuve issue surtout du supérieur : le pilote togolais sera évalué localement avec groupes témoins.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Li et Liang (2024), PLOS ONE ; Labster, Evidence Guide ; de Jong, Linn et Zacharia (2013), Science. Coûts : estimation prudente de l'équipe.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DÉMONSTRATION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tableau de bord web, avec un TP en situation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02336" y="1719072"/>
            <a:ext cx="11356848" cy="4637865"/>
          </a:xfrm>
          <a:prstGeom prst="roundRect">
            <a:avLst>
              <a:gd name="adj" fmla="val 1577"/>
            </a:avLst>
          </a:prstGeom>
          <a:solidFill>
            <a:srgbClr val="FFFFFF"/>
          </a:solidFill>
          <a:ln w="12700">
            <a:solidFill>
              <a:srgbClr val="EDE8DA"/>
            </a:solidFill>
            <a:prstDash val="solid"/>
          </a:ln>
        </p:spPr>
      </p:sp>
      <p:pic>
        <p:nvPicPr>
          <p:cNvPr id="8" name="Image 1" descr="/home/z/my-project/assets/deck_v2/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73936"/>
            <a:ext cx="11247120" cy="452813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6430089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Maquette du tableau de bord web · TP « Dosage acide-base » en 3e · simulation libre, protocole guidé et quiz-jeu aligné BEPC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HourglassHal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MAINTENANT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fenêtre 2026-2027 est ouverte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81051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6656" y="204825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E7C7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" y="204825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225296" y="202996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réforme est officielle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1225296" y="252374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 TP sont exigés au collège et au lycée ; les épreuves de BEPC et de bac en traduisent déjà l'exigence.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17920" y="181051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37376" y="204825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E7C7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37376" y="204825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986016" y="202996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bailleurs sont mobilisés</a:t>
            </a:r>
            <a:endParaRPr lang="en-US" sz="1550" dirty="0"/>
          </a:p>
        </p:txBody>
      </p:sp>
      <p:sp>
        <p:nvSpPr>
          <p:cNvPr id="16" name="Text 13"/>
          <p:cNvSpPr txBox="1"/>
          <p:nvPr/>
        </p:nvSpPr>
        <p:spPr>
          <a:xfrm>
            <a:off x="6986016" y="252374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Programme d'appui documenté avec le GPE depuis 2025 ; l'initiative Giga (UNICEF-UIT) connecte les écoles africaines.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57200" y="373075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6656" y="396849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E7C7B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76656" y="39684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225296" y="395020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précédents existent</a:t>
            </a:r>
            <a:endParaRPr lang="en-US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1225296" y="444398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Rwanda : 200 contenus numériques avec le GPE ; PraxiLabs 2e au GR4TE 2026 ; PhET prouve le modèle gratuit depuis 2002.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217920" y="373075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37376" y="396849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E0592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37376" y="39684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986016" y="395020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place est encore libre</a:t>
            </a:r>
            <a:endParaRPr lang="en-US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6986016" y="444398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Aucune plateforme n'aligne le programme togolais TP par TP. Ce sera une équipe togolaise, ou quelqu'un d'autre, sans le Togo.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5724144"/>
            <a:ext cx="11247120" cy="530352"/>
          </a:xfrm>
          <a:prstGeom prst="roundRect">
            <a:avLst>
              <a:gd name="adj" fmla="val 15517"/>
            </a:avLst>
          </a:prstGeom>
          <a:solidFill>
            <a:srgbClr val="F8E4D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1520" y="5724144"/>
            <a:ext cx="10698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Chaque année de retard prive des centaines de milliers d'élèves d'une partie de leur formation scientifique.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Global Partnership for Education (2024-2025) ; CIO Mag (2025), initiative Giga ; HundrED (2024).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DÉPLOIEMENT EN TROIS ANS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Chaque phase est conditionnée par la preuve de la précédente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71907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Établissements couverts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2048256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39496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1 : pilote  ·  An 2 : extension régionale  ·  An 3 : déploiement national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6263640" y="1755648"/>
            <a:ext cx="544068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63640" y="1755648"/>
            <a:ext cx="82296" cy="1353312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501384" y="1865376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1 · Pilote et preuve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6501384" y="2212848"/>
            <a:ext cx="49651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 simulateurs · 40 établissements volontaires (Maritime, Plateaux, Kara) · 200 enseignants formés · convention-cadre et comité scientifique.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63640" y="3236976"/>
            <a:ext cx="544068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63640" y="3236976"/>
            <a:ext cx="82296" cy="1353312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501384" y="3346704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2 · Extension régionale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6501384" y="3694176"/>
            <a:ext cx="49651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 simulateurs au total · 300 établissements via les directions régionales · 2 000 enseignants formés · intégration à l'ENT et référentiel arrêté.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263640" y="4718304"/>
            <a:ext cx="544068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63640" y="4718304"/>
            <a:ext cx="82296" cy="1353312"/>
          </a:xfrm>
          <a:prstGeom prst="rect">
            <a:avLst/>
          </a:prstGeom>
          <a:solidFill>
            <a:srgbClr val="E0592A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6501384" y="482803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3 · Déploiement national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6501384" y="5175504"/>
            <a:ext cx="49651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120 simulateurs, catalogue complet · 800 établissements et plus · 8 000 enseignants formés · transfert des compétences techniques au ministère.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BUDGET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297 millions de FCFA sur trois ans, un récurrent maîtrisé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7190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 prévisionnel (millions de FCFA)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2048256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3035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 programme : 297 M FCFA, soit environ 0,45 million d'euros.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897880" y="1755648"/>
            <a:ext cx="5806440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135624" y="186537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l'argent construit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135624" y="2194560"/>
            <a:ext cx="53309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51 % de l'année 1 pour la plateforme et les 20 premiers simulateurs ; plus de la moitié de l'enveloppe triennale va au contenu et à la formation, les deux actifs durables.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897880" y="3218688"/>
            <a:ext cx="5806440" cy="1316736"/>
          </a:xfrm>
          <a:prstGeom prst="roundRect">
            <a:avLst>
              <a:gd name="adj" fmla="val 6944"/>
            </a:avLst>
          </a:prstGeom>
          <a:solidFill>
            <a:srgbClr val="F8E4D9"/>
          </a:solidFill>
          <a:ln w="19050">
            <a:solidFill>
              <a:srgbClr val="E0592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135624" y="332841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récurrent, prévu dès maintenant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6135624" y="3657600"/>
            <a:ext cx="53309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Dès la quatrième année, l'État prend en charge hébergement et maintenance pour environ 12 M FCFA par an : environ 2 % de l'équipement physique des seuls 40 établissements du pilote.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897880" y="4681728"/>
            <a:ext cx="5806440" cy="1481328"/>
          </a:xfrm>
          <a:prstGeom prst="roundRect">
            <a:avLst>
              <a:gd name="adj" fmla="val 6173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35624" y="479145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montage multi-bailleurs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6135624" y="5120640"/>
            <a:ext cx="5330952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CEB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État togolais · Partenariat mondial pour l'éducation (GPE) · agences de coopération (AFD, GIZ, UNICEF) · opérateurs télécoms (tarification zéro du trafic) · universités de Lomé et de Kara (comité scientifique).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 prévisionnel de l'équipe · parité de référence : 655,957 FCFA pour un euro.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Chart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L'IMPACT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le Togo y gagne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82880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828800"/>
            <a:ext cx="82296" cy="1956816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94944" y="199339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600 000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694944" y="25786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élèves touchés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94944" y="288950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accès gratuit et complet aux TP, y compris dans les zones sans électricité ni laboratoire : plus aucun élève examiné sur ce qu'il n'a jamais manipulé.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17920" y="182880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17920" y="1828800"/>
            <a:ext cx="82296" cy="1956816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55664" y="199339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8 000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6455664" y="25786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enseignants formés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455664" y="288950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séances prêtes à l'emploi et des démonstrations fiables : moins de temps de préparation, une continuité pédagogique assurée même avec les départs d'enseignants.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4023360"/>
            <a:ext cx="82296" cy="1956816"/>
          </a:xfrm>
          <a:prstGeom prst="rect">
            <a:avLst/>
          </a:prstGeom>
          <a:solidFill>
            <a:srgbClr val="E0592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94944" y="418795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059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40 ×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694944" y="47731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moins cher pour l'État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694944" y="508406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réforme devient exécutable partout pour 297 M FCFA, au lieu de milliards en laboratoires physiques : l'argent public va à l'usage, pas au bâti.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17920" y="402336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17920" y="4023360"/>
            <a:ext cx="82296" cy="1956816"/>
          </a:xfrm>
          <a:prstGeom prst="rect">
            <a:avLst/>
          </a:prstGeom>
          <a:solidFill>
            <a:srgbClr val="E0592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55664" y="418795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059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Inédit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6455664" y="47731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piloter sur des données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6455664" y="508406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Statistiques d'usage agrégées et anonymisées : le ministère voit enfin la pratique réelle des TP et pilote sa politique scientifique sur des faits.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57200" y="6035040"/>
            <a:ext cx="11247120" cy="512064"/>
          </a:xfrm>
          <a:prstGeom prst="roundRect">
            <a:avLst>
              <a:gd name="adj" fmla="val 16071"/>
            </a:avLst>
          </a:prstGeom>
          <a:solidFill>
            <a:srgbClr val="0E7C7B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1520" y="6035040"/>
            <a:ext cx="10698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actif technologique national, réutilisable par d'autres matières : le Togo, référence francophone des TP virtuels.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L'ÉQUIPE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Deux fondateurs, une complémentarité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1933956" y="1828800"/>
            <a:ext cx="41605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8" name="Image 1" descr="/home/z/my-project/assets/deck/team_djab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2121408"/>
            <a:ext cx="1371600" cy="1371600"/>
          </a:xfrm>
          <a:prstGeom prst="ellipse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16836" y="3621024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DJABON Ounimborbititou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2116836" y="4005072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7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Technologie et simulateurs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2253996" y="4352544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de la plateforme, développement HTML5 des simulateurs, packs hors ligne et données d'usage.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643116" y="1828800"/>
            <a:ext cx="41605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13" name="Image 2" descr="/home/z/my-project/assets/deck/team_rola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7576" y="2121408"/>
            <a:ext cx="1371600" cy="1371600"/>
          </a:xfrm>
          <a:prstGeom prst="ellipse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825996" y="3621024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HOUNKPE Mawulikpimi Roland</a:t>
            </a:r>
            <a:endParaRPr lang="en-US" sz="1550" dirty="0"/>
          </a:p>
        </p:txBody>
      </p:sp>
      <p:sp>
        <p:nvSpPr>
          <p:cNvPr id="15" name="Text 10"/>
          <p:cNvSpPr txBox="1"/>
          <p:nvPr/>
        </p:nvSpPr>
        <p:spPr>
          <a:xfrm>
            <a:off x="6825996" y="4005072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7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Pédagogie et partenariats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963156" y="4352544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Cartographie des TP avec les inspecteurs, comité scientifique, formation des enseignants et partenariats.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979676" y="5614416"/>
            <a:ext cx="8229600" cy="566928"/>
          </a:xfrm>
          <a:prstGeom prst="roundRect">
            <a:avLst>
              <a:gd name="adj" fmla="val 14516"/>
            </a:avLst>
          </a:prstGeom>
          <a:solidFill>
            <a:srgbClr val="DCEBEA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979676" y="5614416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Partagé : le pilote des 40 établissements, la mesure d'impact et le plaidoyer de financement.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Ancrage local : Université de Lomé · AIMS Ghana (African Institute for Mathematical Sciences).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5C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z/my-project/assets/deck_v2/water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3291840"/>
            <a:ext cx="4005072" cy="23682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5720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4" name="Image 1" descr="/home/z/my-project/assets/deck_v2/fa_FaComm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" y="534924"/>
            <a:ext cx="192024" cy="19202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932688" y="420624"/>
            <a:ext cx="5486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DCEB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125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96112"/>
            <a:ext cx="9144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Notre demande</a:t>
            </a:r>
            <a:endParaRPr lang="en-US" sz="4000" dirty="0"/>
          </a:p>
        </p:txBody>
      </p:sp>
      <p:sp>
        <p:nvSpPr>
          <p:cNvPr id="7" name="Shape 3"/>
          <p:cNvSpPr/>
          <p:nvPr/>
        </p:nvSpPr>
        <p:spPr>
          <a:xfrm>
            <a:off x="960120" y="2011680"/>
            <a:ext cx="475488" cy="475488"/>
          </a:xfrm>
          <a:prstGeom prst="ellipse">
            <a:avLst/>
          </a:prstGeom>
          <a:solidFill>
            <a:srgbClr val="E0592A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60120" y="20116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1691640" y="1956816"/>
            <a:ext cx="9692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Votre regard critique et votre appui scientifique</a:t>
            </a:r>
            <a:endParaRPr lang="en-US" sz="1850" dirty="0"/>
          </a:p>
        </p:txBody>
      </p:sp>
      <p:sp>
        <p:nvSpPr>
          <p:cNvPr id="10" name="Text 6"/>
          <p:cNvSpPr txBox="1"/>
          <p:nvPr/>
        </p:nvSpPr>
        <p:spPr>
          <a:xfrm>
            <a:off x="1691640" y="2359152"/>
            <a:ext cx="9509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 le concept, le catalogue et le protocole d'évaluation du pilote, en vue du comité scientifique avec l'Université de Lomé et l'Université de Kara.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3236976"/>
            <a:ext cx="475488" cy="475488"/>
          </a:xfrm>
          <a:prstGeom prst="ellipse">
            <a:avLst/>
          </a:prstGeom>
          <a:solidFill>
            <a:srgbClr val="E0592A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60120" y="323697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1691640" y="3182112"/>
            <a:ext cx="9692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mise en relation au ministère</a:t>
            </a:r>
            <a:endParaRPr lang="en-US" sz="1850" dirty="0"/>
          </a:p>
        </p:txBody>
      </p:sp>
      <p:sp>
        <p:nvSpPr>
          <p:cNvPr id="14" name="Text 10"/>
          <p:cNvSpPr txBox="1"/>
          <p:nvPr/>
        </p:nvSpPr>
        <p:spPr>
          <a:xfrm>
            <a:off x="1691640" y="3584448"/>
            <a:ext cx="9509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nous ne demandons pas que vous financiez, mais que vous ouvriez la porte du ministère pour cadrer le catalogue TP par TP avec les inspecteurs.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960120" y="4462272"/>
            <a:ext cx="475488" cy="475488"/>
          </a:xfrm>
          <a:prstGeom prst="ellipse">
            <a:avLst/>
          </a:prstGeom>
          <a:solidFill>
            <a:srgbClr val="E0592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60120" y="44622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1691640" y="4407408"/>
            <a:ext cx="9692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Vos orientations vers les bons guichets</a:t>
            </a:r>
            <a:endParaRPr lang="en-US" sz="1850" dirty="0"/>
          </a:p>
        </p:txBody>
      </p:sp>
      <p:sp>
        <p:nvSpPr>
          <p:cNvPr id="18" name="Text 14"/>
          <p:cNvSpPr txBox="1"/>
          <p:nvPr/>
        </p:nvSpPr>
        <p:spPr>
          <a:xfrm>
            <a:off x="1691640" y="4809744"/>
            <a:ext cx="9509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GPE, AFD, GIZ, UNICEF : aidez-nous à affiner le montage de 297 M FCFA et à saisir la fenêtre 2026-2027 avant quelqu'un d'autre.</a:t>
            </a:r>
            <a:endParaRPr lang="en-US" sz="1200" dirty="0"/>
          </a:p>
        </p:txBody>
      </p:sp>
      <p:pic>
        <p:nvPicPr>
          <p:cNvPr id="19" name="Image 2" descr="/home/z/my-project/assets/deck_v2/fa_FaPhone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6071616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261872" y="6035040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+228 92 39 97 21   ·   +228 93 21 72 15</a:t>
            </a:r>
            <a:endParaRPr lang="en-US" sz="1100" dirty="0"/>
          </a:p>
        </p:txBody>
      </p:sp>
      <p:pic>
        <p:nvPicPr>
          <p:cNvPr id="21" name="Image 3" descr="/home/z/my-project/assets/deck_v2/fa_FaEnvelop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6455664"/>
            <a:ext cx="201168" cy="20116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61872" y="6419088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djabon@aims.edu.gh   ·   rhounkpe@aims.edu.gh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VirtuLab Togo · Équipe ExamBoost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VirtuLab Togo · Plateforme nationale de travaux pratiques virtuels</dc:title>
  <dc:subject>Présentation de crédibilité scientifique et demande de parrainage</dc:subject>
  <dc:creator>DJABON Ounimborbititou &amp; HOUNKPE Mawulikpimi Roland</dc:creator>
  <cp:lastModifiedBy>DJABON Ounimborbititou &amp; HOUNKPE Mawulikpimi Roland</cp:lastModifiedBy>
  <cp:revision>1</cp:revision>
  <dcterms:created xsi:type="dcterms:W3CDTF">2026-09-01T16:33:32Z</dcterms:created>
  <dcterms:modified xsi:type="dcterms:W3CDTF">2026-09-01T16:33:32Z</dcterms:modified>
</cp:coreProperties>
</file>