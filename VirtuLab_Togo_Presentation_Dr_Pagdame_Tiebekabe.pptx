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Repères de Cohen</c:v>
                </c:pt>
              </c:strCache>
            </c:strRef>
          </c:tx>
          <c:spPr>
            <a:solidFill>
              <a:srgbClr val="8A959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Effet faible</c:v>
                  </c:pt>
                  <c:pt idx="1">
                    <c:v>Effet modéré</c:v>
                  </c:pt>
                  <c:pt idx="2">
                    <c:v>Effet fort</c:v>
                  </c:pt>
                  <c:pt idx="3">
                    <c:v>Laboratoires virtuels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0.5</c:v>
                </c:pt>
                <c:pt idx="2">
                  <c:v>0.8</c:v>
                </c:pt>
                <c:pt idx="3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Méta-analyse 2024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Effet faible</c:v>
                  </c:pt>
                  <c:pt idx="1">
                    <c:v>Effet modéré</c:v>
                  </c:pt>
                  <c:pt idx="2">
                    <c:v>Effet fort</c:v>
                  </c:pt>
                  <c:pt idx="3">
                    <c:v>Laboratoires virtuels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0.686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050" u="none">
                  <a:solidFill>
                    <a:srgbClr val="22333B"/>
                  </a:solidFill>
                  <a:latin typeface="Trebuchet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2333B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DE8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B80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Pilote</c:v>
                </c:pt>
              </c:strCache>
            </c:strRef>
          </c:tx>
          <c:spPr>
            <a:solidFill>
              <a:srgbClr val="8A959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/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Extension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/>
                </c:pt>
                <c:pt idx="1">
                  <c:v>300</c:v>
                </c:pt>
                <c:pt idx="2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National</c:v>
                </c:pt>
              </c:strCache>
            </c:strRef>
          </c:tx>
          <c:spPr>
            <a:solidFill>
              <a:srgbClr val="E0592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/>
                </c:pt>
                <c:pt idx="1">
                  <c:v/>
                </c:pt>
                <c:pt idx="2">
                  <c:v>800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22333B"/>
                  </a:solidFill>
                  <a:latin typeface="Trebuchet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33B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annuel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&quot; 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</c:v>
                </c:pt>
                <c:pt idx="1">
                  <c:v>85</c:v>
                </c:pt>
                <c:pt idx="2">
                  <c:v>95</c:v>
                </c:pt>
              </c:numCache>
            </c:numRef>
          </c:val>
        </c:ser>
        <c:dLbls>
          <c:numFmt formatCode="0&quot; 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2333B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33B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image" Target="../media/image-4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59552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71323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VirtuLab Togo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64208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50" i="1" dirty="0">
                <a:solidFill>
                  <a:srgbClr val="DCE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 nationale de travaux pratiques virtuels</a:t>
            </a:r>
            <a:endParaRPr lang="en-US" sz="1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50" i="1" dirty="0">
                <a:solidFill>
                  <a:srgbClr val="DCE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 collège et le lycée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02920" y="2871216"/>
            <a:ext cx="1444752" cy="896112"/>
          </a:xfrm>
          <a:prstGeom prst="roundRect">
            <a:avLst>
              <a:gd name="adj" fmla="val 9184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9626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286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39496" y="33832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 SIMULÉS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057400" y="2871216"/>
            <a:ext cx="1444752" cy="896112"/>
          </a:xfrm>
          <a:prstGeom prst="roundRect">
            <a:avLst>
              <a:gd name="adj" fmla="val 9184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9626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093976" y="33832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MATIÈRES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611880" y="2871216"/>
            <a:ext cx="1444752" cy="896112"/>
          </a:xfrm>
          <a:prstGeom prst="roundRect">
            <a:avLst>
              <a:gd name="adj" fmla="val 9184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9626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6e · Tle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33832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COLLÈGE ET LYCÉE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133088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Présenté au Dr Pagdame Tiebekabe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79145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Enseignant-chercheur, techno-pédagogue · Université de Kara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52297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DJABON Ounimborbititou   ·   HOUNKPE Mawulikpimi Roland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815584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Université de Lomé   ·   AIMS Ghana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089904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Septembre 2026</a:t>
            </a:r>
            <a:endParaRPr lang="en-US" sz="1000" dirty="0"/>
          </a:p>
        </p:txBody>
      </p:sp>
      <p:pic>
        <p:nvPicPr>
          <p:cNvPr id="19" name="Image 0" descr="/home/z/my-project/assets/deck_v2/cover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0"/>
            <a:ext cx="6629400" cy="426110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559552" y="4261104"/>
            <a:ext cx="6629400" cy="45720"/>
          </a:xfrm>
          <a:prstGeom prst="rect">
            <a:avLst/>
          </a:prstGeom>
          <a:solidFill>
            <a:srgbClr val="F5F2E9"/>
          </a:solidFill>
          <a:ln/>
        </p:spPr>
      </p:sp>
      <p:pic>
        <p:nvPicPr>
          <p:cNvPr id="21" name="Image 1" descr="/home/z/my-project/assets/deck_v2/cover_la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4306824"/>
            <a:ext cx="6629400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GlobeAfr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CONTEXTE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école qui grandit vite, des TP restés au tableau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700784"/>
            <a:ext cx="5394960" cy="3621024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1865376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Collèges et lycées publics · Togo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56032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645920" y="2560320"/>
            <a:ext cx="953733" cy="658368"/>
          </a:xfrm>
          <a:prstGeom prst="roundRect">
            <a:avLst>
              <a:gd name="adj" fmla="val 9722"/>
            </a:avLst>
          </a:prstGeom>
          <a:solidFill>
            <a:srgbClr val="8A959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636229" y="256032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E7B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294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3584448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645920" y="3584448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0E7C7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08576" y="358444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902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713232" y="4572000"/>
            <a:ext cx="4882896" cy="566928"/>
          </a:xfrm>
          <a:prstGeom prst="roundRect">
            <a:avLst>
              <a:gd name="adj" fmla="val 12903"/>
            </a:avLst>
          </a:prstGeom>
          <a:solidFill>
            <a:srgbClr val="F8E4D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572000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608 créés depuis 2011, souvent en zones rurales, sans salle de sciences ni matériel.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89904" y="1700784"/>
            <a:ext cx="561441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89904" y="1700784"/>
            <a:ext cx="82296" cy="113385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27648" y="1810512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915 214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8302752" y="1792224"/>
            <a:ext cx="3163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élèves du secondaire, public et privé, concernés par la réforme des TP.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302752" y="2523744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Banque mondiale et ISU, 2023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089904" y="2944368"/>
            <a:ext cx="561441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89904" y="2944368"/>
            <a:ext cx="82296" cy="1133856"/>
          </a:xfrm>
          <a:prstGeom prst="rect">
            <a:avLst/>
          </a:prstGeom>
          <a:solidFill>
            <a:srgbClr val="E0592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27648" y="3054096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5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90 %</a:t>
            </a:r>
            <a:endParaRPr lang="en-US" sz="2700" dirty="0"/>
          </a:p>
        </p:txBody>
      </p:sp>
      <p:sp>
        <p:nvSpPr>
          <p:cNvPr id="25" name="Text 22"/>
          <p:cNvSpPr txBox="1"/>
          <p:nvPr/>
        </p:nvSpPr>
        <p:spPr>
          <a:xfrm>
            <a:off x="8302752" y="3035808"/>
            <a:ext cx="3163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écoles du Togo n'ont pas de laboratoire : les TP restent théoriques.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302752" y="3767328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GPE · récit MOBILELABO, 2019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089904" y="4187952"/>
            <a:ext cx="561441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89904" y="4187952"/>
            <a:ext cx="82296" cy="113385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27648" y="42976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33,9 %</a:t>
            </a:r>
            <a:endParaRPr lang="en-US" sz="2700" dirty="0"/>
          </a:p>
        </p:txBody>
      </p:sp>
      <p:sp>
        <p:nvSpPr>
          <p:cNvPr id="30" name="Text 27"/>
          <p:cNvSpPr txBox="1"/>
          <p:nvPr/>
        </p:nvSpPr>
        <p:spPr>
          <a:xfrm>
            <a:off x="8302752" y="4279392"/>
            <a:ext cx="3163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d'électrification en zones rurales : un laboratoire ne s'allume pas.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302752" y="5010912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Banque mondiale, 2024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5614416"/>
            <a:ext cx="11247120" cy="658368"/>
          </a:xfrm>
          <a:prstGeom prst="roundRect">
            <a:avLst>
              <a:gd name="adj" fmla="val 12500"/>
            </a:avLst>
          </a:prstGeom>
          <a:solidFill>
            <a:srgbClr val="0A5C5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31520" y="5614416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BEPC et le baccalauréat interrogent chaque année des manipulations que la majorité des élèves n'a jamais pratiquées.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: ministère de l'Éducation nationale, Togo (2024) ; Banque mondiale et Institut de statistique de l'UNESCO (2023) ; GPE, récit MOBILELABO (2019).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MapMarker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 EN CHIFFRES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Équiper physiquement le pays : au moins 2,4 milliards FCFA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810512"/>
            <a:ext cx="32552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10512"/>
            <a:ext cx="3255264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1993392"/>
            <a:ext cx="3255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ÉQUIPER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231136"/>
            <a:ext cx="32552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810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090672"/>
            <a:ext cx="3255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laboratoires de sciences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328416"/>
            <a:ext cx="3035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902 publics · ≈ 90 % sans laboratoire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712464" y="1810512"/>
            <a:ext cx="7406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5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453128" y="1810512"/>
            <a:ext cx="32552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53128" y="1810512"/>
            <a:ext cx="3255264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453128" y="1993392"/>
            <a:ext cx="3255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 LABORATOIRE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453128" y="2231136"/>
            <a:ext cx="32552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 M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4453128" y="3090672"/>
            <a:ext cx="3255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FCFA · formule minimale « kits »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62856" y="3328416"/>
            <a:ext cx="3035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mobilier + kits PC/SVT · marché togolais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7708392" y="1810512"/>
            <a:ext cx="7406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5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8449056" y="1810512"/>
            <a:ext cx="3255264" cy="1828800"/>
          </a:xfrm>
          <a:prstGeom prst="roundRect">
            <a:avLst>
              <a:gd name="adj" fmla="val 5000"/>
            </a:avLst>
          </a:prstGeom>
          <a:solidFill>
            <a:srgbClr val="E0592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449056" y="1993392"/>
            <a:ext cx="3255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8E4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FACTURE NATIONALE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449056" y="2231136"/>
            <a:ext cx="32552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 Md</a:t>
            </a:r>
            <a:endParaRPr lang="en-US" sz="4400" dirty="0"/>
          </a:p>
        </p:txBody>
      </p:sp>
      <p:sp>
        <p:nvSpPr>
          <p:cNvPr id="24" name="Text 21"/>
          <p:cNvSpPr txBox="1"/>
          <p:nvPr/>
        </p:nvSpPr>
        <p:spPr>
          <a:xfrm>
            <a:off x="8449056" y="3090672"/>
            <a:ext cx="3255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FCFA · minimum national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558784" y="3328416"/>
            <a:ext cx="3035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8E4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 salles neuves et raccordements électriques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3822192"/>
            <a:ext cx="11247120" cy="457200"/>
          </a:xfrm>
          <a:prstGeom prst="roundRect">
            <a:avLst>
              <a:gd name="adj" fmla="val 18000"/>
            </a:avLst>
          </a:prstGeom>
          <a:solidFill>
            <a:srgbClr val="EDE8D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31520" y="382219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Référence standard : </a:t>
            </a:r>
            <a:pPr algn="l" indent="0" marL="0"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 FCFA par laboratoire (rénovation réelle du lycée de Tsévié 1, UNICEF 2025). Au standard : 9,7 Md FCFA.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443984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4944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complet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651760" y="4732020"/>
            <a:ext cx="4206240" cy="173736"/>
          </a:xfrm>
          <a:prstGeom prst="roundRect">
            <a:avLst>
              <a:gd name="adj" fmla="val 50000"/>
            </a:avLst>
          </a:prstGeom>
          <a:solidFill>
            <a:srgbClr val="EDE8DA"/>
          </a:solidFill>
          <a:ln/>
        </p:spPr>
      </p:sp>
      <p:sp>
        <p:nvSpPr>
          <p:cNvPr id="31" name="Shape 28"/>
          <p:cNvSpPr/>
          <p:nvPr/>
        </p:nvSpPr>
        <p:spPr>
          <a:xfrm>
            <a:off x="2651760" y="4732020"/>
            <a:ext cx="4206240" cy="173736"/>
          </a:xfrm>
          <a:prstGeom prst="roundRect">
            <a:avLst>
              <a:gd name="adj" fmla="val 50000"/>
            </a:avLst>
          </a:prstGeom>
          <a:solidFill>
            <a:srgbClr val="8A959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949440" y="4681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9,7 Md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94944" y="5138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« kits »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651760" y="5189220"/>
            <a:ext cx="4206240" cy="173736"/>
          </a:xfrm>
          <a:prstGeom prst="roundRect">
            <a:avLst>
              <a:gd name="adj" fmla="val 50000"/>
            </a:avLst>
          </a:prstGeom>
          <a:solidFill>
            <a:srgbClr val="EDE8DA"/>
          </a:solidFill>
          <a:ln/>
        </p:spPr>
      </p:sp>
      <p:sp>
        <p:nvSpPr>
          <p:cNvPr id="35" name="Shape 32"/>
          <p:cNvSpPr/>
          <p:nvPr/>
        </p:nvSpPr>
        <p:spPr>
          <a:xfrm>
            <a:off x="2651760" y="5189220"/>
            <a:ext cx="1051560" cy="173736"/>
          </a:xfrm>
          <a:prstGeom prst="roundRect">
            <a:avLst>
              <a:gd name="adj" fmla="val 50000"/>
            </a:avLst>
          </a:prstGeom>
          <a:solidFill>
            <a:srgbClr val="E0592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949440" y="51389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 Md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94944" y="5596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VirtuLab · 3 ans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651760" y="5646420"/>
            <a:ext cx="4206240" cy="173736"/>
          </a:xfrm>
          <a:prstGeom prst="roundRect">
            <a:avLst>
              <a:gd name="adj" fmla="val 50000"/>
            </a:avLst>
          </a:prstGeom>
          <a:solidFill>
            <a:srgbClr val="EDE8DA"/>
          </a:solidFill>
          <a:ln/>
        </p:spPr>
      </p:sp>
      <p:sp>
        <p:nvSpPr>
          <p:cNvPr id="39" name="Shape 36"/>
          <p:cNvSpPr/>
          <p:nvPr/>
        </p:nvSpPr>
        <p:spPr>
          <a:xfrm>
            <a:off x="2651760" y="5646420"/>
            <a:ext cx="128524" cy="173736"/>
          </a:xfrm>
          <a:prstGeom prst="roundRect">
            <a:avLst>
              <a:gd name="adj" fmla="val 67589"/>
            </a:avLst>
          </a:prstGeom>
          <a:solidFill>
            <a:srgbClr val="0E7C7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949440" y="5596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297 M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092440" y="4700016"/>
            <a:ext cx="12802" cy="1152144"/>
          </a:xfrm>
          <a:prstGeom prst="rect">
            <a:avLst/>
          </a:prstGeom>
          <a:solidFill>
            <a:srgbClr val="EDE8DA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321040" y="473659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à 33 fois</a:t>
            </a:r>
            <a:endParaRPr lang="en-US" sz="3000" dirty="0"/>
          </a:p>
        </p:txBody>
      </p:sp>
      <p:sp>
        <p:nvSpPr>
          <p:cNvPr id="43" name="Text 40"/>
          <p:cNvSpPr txBox="1"/>
          <p:nvPr/>
        </p:nvSpPr>
        <p:spPr>
          <a:xfrm>
            <a:off x="8321040" y="537667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budget VirtuLab : 297 M FCFA sur trois ans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: UNICEF Togo, rénovation du laboratoire du lycée de Tsévié 1 (2025) ; GPE, récit MOBILELABO (2019) ; prix du marché togolais (2024).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SOLUTION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VirtuLab Togo : le laboratoire dans chaque poche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6642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Gratuite, publique et hors ligne : 286 TP alignés sur les programmes officiels, du collège au lycée.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176272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241401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7C7B"/>
          </a:solidFill>
          <a:ln/>
        </p:spPr>
      </p:sp>
      <p:pic>
        <p:nvPicPr>
          <p:cNvPr id="10" name="Image 1" descr="/home/z/my-project/assets/deck_v2/fa_FaA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5648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40280" y="2432304"/>
            <a:ext cx="1591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216 TP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94944" y="312724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Physique-chimie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3529584"/>
            <a:ext cx="3136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Guides officiels PCT, 6e → Tle : 96 au collège, 120 au lycée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74820" y="2176272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12564" y="241401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0592A"/>
          </a:solidFill>
          <a:ln/>
        </p:spPr>
      </p:sp>
      <p:pic>
        <p:nvPicPr>
          <p:cNvPr id="16" name="Image 2" descr="/home/z/my-project/assets/deck_v2/fa_Fa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6489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057900" y="2432304"/>
            <a:ext cx="1591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5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TP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4512564" y="312724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SVT</a:t>
            </a:r>
            <a:endParaRPr lang="en-US" sz="1650" dirty="0"/>
          </a:p>
        </p:txBody>
      </p:sp>
      <p:sp>
        <p:nvSpPr>
          <p:cNvPr id="19" name="Text 14"/>
          <p:cNvSpPr txBox="1"/>
          <p:nvPr/>
        </p:nvSpPr>
        <p:spPr>
          <a:xfrm>
            <a:off x="4512564" y="3529584"/>
            <a:ext cx="3136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Cellule, génétique, écosystèmes, nutrition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92440" y="2176272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30184" y="241401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8A959B"/>
          </a:solidFill>
          <a:ln/>
        </p:spPr>
      </p:sp>
      <p:pic>
        <p:nvPicPr>
          <p:cNvPr id="22" name="Image 3" descr="/home/z/my-project/assets/deck_v2/fa_FaSquareRoot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60" y="256489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75520" y="2432304"/>
            <a:ext cx="1591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TP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8330184" y="312724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Mathématiques</a:t>
            </a:r>
            <a:endParaRPr lang="en-US" sz="1650" dirty="0"/>
          </a:p>
        </p:txBody>
      </p:sp>
      <p:sp>
        <p:nvSpPr>
          <p:cNvPr id="25" name="Text 19"/>
          <p:cNvSpPr txBox="1"/>
          <p:nvPr/>
        </p:nvSpPr>
        <p:spPr>
          <a:xfrm>
            <a:off x="8330184" y="3529584"/>
            <a:ext cx="3136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Fonctions, géométrie dynamique, statistiques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4498848"/>
            <a:ext cx="112471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13232" y="460857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6e à la terminale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3246120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DCEBEA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3246120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6e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215384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DCEBEA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215384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5e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184648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DCEBEA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5184648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4e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6153912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DCEBEA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153912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3e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123176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F8E4D9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7123176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2de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8092440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F8E4D9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092440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1re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9061704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F8E4D9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9061704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Tle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3246120" y="51937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COLLÈGE</a:t>
            </a:r>
            <a:endParaRPr lang="en-US" sz="850" dirty="0"/>
          </a:p>
        </p:txBody>
      </p:sp>
      <p:sp>
        <p:nvSpPr>
          <p:cNvPr id="43" name="Text 37"/>
          <p:cNvSpPr txBox="1"/>
          <p:nvPr/>
        </p:nvSpPr>
        <p:spPr>
          <a:xfrm>
            <a:off x="7123176" y="5193792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059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LYCÉE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457200" y="5797296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45" name="Image 4" descr="/home/z/my-project/assets/deck_v2/fa_Fa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925312"/>
            <a:ext cx="201168" cy="201168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96112" y="57972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 pour tous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3307080" y="5797296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48" name="Image 5" descr="/home/z/my-project/assets/deck_v2/fa_Fa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9960" y="5925312"/>
            <a:ext cx="201168" cy="201168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3745992" y="57972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 ligne d'abord</a:t>
            </a:r>
            <a:endParaRPr lang="en-US" sz="1150" dirty="0"/>
          </a:p>
        </p:txBody>
      </p:sp>
      <p:sp>
        <p:nvSpPr>
          <p:cNvPr id="50" name="Shape 42"/>
          <p:cNvSpPr/>
          <p:nvPr/>
        </p:nvSpPr>
        <p:spPr>
          <a:xfrm>
            <a:off x="6156960" y="5797296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51" name="Image 6" descr="/home/z/my-project/assets/deck_v2/fa_Fa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840" y="5925312"/>
            <a:ext cx="201168" cy="201168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595872" y="57972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Aligné TP par TP</a:t>
            </a:r>
            <a:endParaRPr lang="en-US" sz="1150" dirty="0"/>
          </a:p>
        </p:txBody>
      </p:sp>
      <p:sp>
        <p:nvSpPr>
          <p:cNvPr id="53" name="Shape 44"/>
          <p:cNvSpPr/>
          <p:nvPr/>
        </p:nvSpPr>
        <p:spPr>
          <a:xfrm>
            <a:off x="9006840" y="5797296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54" name="Image 7" descr="/home/z/my-project/assets/deck_v2/fa_Fa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5925312"/>
            <a:ext cx="201168" cy="201168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9445752" y="57972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classe et élève</a:t>
            </a:r>
            <a:endParaRPr lang="en-US" sz="1150" dirty="0"/>
          </a:p>
        </p:txBody>
      </p:sp>
      <p:sp>
        <p:nvSpPr>
          <p:cNvPr id="56" name="Text 4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ÇA MARCHE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étapes, du programme officiel à la classe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25296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E7C7B"/>
          </a:solidFill>
          <a:ln/>
        </p:spPr>
      </p:sp>
      <p:pic>
        <p:nvPicPr>
          <p:cNvPr id="9" name="Image 1" descr="/home/z/my-project/assets/deck_v2/fa_Fa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871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1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Référencer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TP du programme cartographiés avec les inspecteurs.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0080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Cartographie des TP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530602" y="3364992"/>
            <a:ext cx="256032" cy="219456"/>
          </a:xfrm>
          <a:prstGeom prst="chevron">
            <a:avLst/>
          </a:prstGeom>
          <a:solidFill>
            <a:srgbClr val="8A959B"/>
          </a:solidFill>
          <a:ln/>
        </p:spPr>
      </p:sp>
      <p:sp>
        <p:nvSpPr>
          <p:cNvPr id="16" name="Shape 12"/>
          <p:cNvSpPr/>
          <p:nvPr/>
        </p:nvSpPr>
        <p:spPr>
          <a:xfrm>
            <a:off x="2738628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06724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E7C7B"/>
          </a:solidFill>
          <a:ln/>
        </p:spPr>
      </p:sp>
      <p:pic>
        <p:nvPicPr>
          <p:cNvPr id="18" name="Image 2" descr="/home/z/my-project/assets/deck_v2/fa_FaPencilRu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028" y="24871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738628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2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2738628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Concevoir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2903220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Scénario pédagogique : objectif, pièges, quiz type examen.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921508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2921508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Fiches pédagogiques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812030" y="3364992"/>
            <a:ext cx="256032" cy="219456"/>
          </a:xfrm>
          <a:prstGeom prst="chevron">
            <a:avLst/>
          </a:prstGeom>
          <a:solidFill>
            <a:srgbClr val="8A959B"/>
          </a:solidFill>
          <a:ln/>
        </p:spPr>
      </p:sp>
      <p:sp>
        <p:nvSpPr>
          <p:cNvPr id="25" name="Shape 20"/>
          <p:cNvSpPr/>
          <p:nvPr/>
        </p:nvSpPr>
        <p:spPr>
          <a:xfrm>
            <a:off x="5020056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788152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E7C7B"/>
          </a:solidFill>
          <a:ln/>
        </p:spPr>
      </p:sp>
      <p:pic>
        <p:nvPicPr>
          <p:cNvPr id="27" name="Image 3" descr="/home/z/my-project/assets/deck_v2/fa_FaLaptop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48716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020056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3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5020056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Développer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5184648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HTML5, 1 à 3 Mo par TP, conçu pour tourner hors ligne.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202936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5202936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Simulateurs HTML5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093458" y="3364992"/>
            <a:ext cx="256032" cy="219456"/>
          </a:xfrm>
          <a:prstGeom prst="chevron">
            <a:avLst/>
          </a:prstGeom>
          <a:solidFill>
            <a:srgbClr val="8A959B"/>
          </a:solidFill>
          <a:ln/>
        </p:spPr>
      </p:sp>
      <p:sp>
        <p:nvSpPr>
          <p:cNvPr id="34" name="Shape 28"/>
          <p:cNvSpPr/>
          <p:nvPr/>
        </p:nvSpPr>
        <p:spPr>
          <a:xfrm>
            <a:off x="7301484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069580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E7C7B"/>
          </a:solidFill>
          <a:ln/>
        </p:spPr>
      </p:sp>
      <p:pic>
        <p:nvPicPr>
          <p:cNvPr id="36" name="Image 4" descr="/home/z/my-project/assets/deck_v2/fa_FaCheckDou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84" y="2487168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301484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4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7301484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7466076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revue : comité scientifique et inspecteurs.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7484364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7484364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Catalogue validé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9374886" y="3364992"/>
            <a:ext cx="256032" cy="219456"/>
          </a:xfrm>
          <a:prstGeom prst="chevron">
            <a:avLst/>
          </a:prstGeom>
          <a:solidFill>
            <a:srgbClr val="8A959B"/>
          </a:solidFill>
          <a:ln/>
        </p:spPr>
      </p:sp>
      <p:sp>
        <p:nvSpPr>
          <p:cNvPr id="43" name="Shape 36"/>
          <p:cNvSpPr/>
          <p:nvPr/>
        </p:nvSpPr>
        <p:spPr>
          <a:xfrm>
            <a:off x="9582912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10351008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0592A"/>
          </a:solidFill>
          <a:ln/>
        </p:spPr>
      </p:sp>
      <p:pic>
        <p:nvPicPr>
          <p:cNvPr id="45" name="Image 5" descr="/home/z/my-project/assets/deck_v2/fa_Fa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2" y="2487168"/>
            <a:ext cx="292608" cy="292608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9582912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5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9582912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Déployer</a:t>
            </a:r>
            <a:endParaRPr lang="en-US" sz="1450" dirty="0"/>
          </a:p>
        </p:txBody>
      </p:sp>
      <p:sp>
        <p:nvSpPr>
          <p:cNvPr id="48" name="Text 40"/>
          <p:cNvSpPr txBox="1"/>
          <p:nvPr/>
        </p:nvSpPr>
        <p:spPr>
          <a:xfrm>
            <a:off x="9747504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mesuré en classe, catalogue recalibré.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9765792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F8E4D9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9765792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 d'usage</a:t>
            </a:r>
            <a:endParaRPr lang="en-US" sz="85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4956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Boucle de recalibrage : les données d'usage indiquent quels contenus manquent et quoi développer ensuite.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457200" y="5632704"/>
            <a:ext cx="11247120" cy="548640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731520" y="563270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Chaque simulateur arrive avec sa fiche pédagogique, son protocole de séance prêt à l'emploi et son quiz-jeu d'évaluation.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SOCLE TECHNIQUE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architecture qui fonctionne sans réseau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847088"/>
            <a:ext cx="2487168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63040" y="2011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E7C7B"/>
          </a:solidFill>
          <a:ln/>
        </p:spPr>
      </p:sp>
      <p:pic>
        <p:nvPicPr>
          <p:cNvPr id="9" name="Image 1" descr="/home/z/my-project/assets/deck_v2/fa_Fa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3055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2064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PROGRAMME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8163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Fiche, protocole et quiz-jeu pour chaque séance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041904" y="2560320"/>
            <a:ext cx="237744" cy="201168"/>
          </a:xfrm>
          <a:prstGeom prst="chevron">
            <a:avLst/>
          </a:prstGeom>
          <a:solidFill>
            <a:srgbClr val="0E7C7B"/>
          </a:solidFill>
          <a:ln/>
        </p:spPr>
      </p:sp>
      <p:sp>
        <p:nvSpPr>
          <p:cNvPr id="13" name="Shape 9"/>
          <p:cNvSpPr/>
          <p:nvPr/>
        </p:nvSpPr>
        <p:spPr>
          <a:xfrm>
            <a:off x="3377184" y="1847088"/>
            <a:ext cx="2487168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83024" y="2011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E7C7B"/>
          </a:solidFill>
          <a:ln/>
        </p:spPr>
      </p:sp>
      <p:pic>
        <p:nvPicPr>
          <p:cNvPr id="15" name="Image 2" descr="/home/z/my-project/assets/deck_v2/fa_FaLaptop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96" y="213055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32048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SIMULATEURS HTML5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3523488" y="28163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à 3 Mo par TP, fluides sur PC et smartphone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961888" y="2560320"/>
            <a:ext cx="237744" cy="201168"/>
          </a:xfrm>
          <a:prstGeom prst="chevron">
            <a:avLst/>
          </a:prstGeom>
          <a:solidFill>
            <a:srgbClr val="0E7C7B"/>
          </a:solidFill>
          <a:ln/>
        </p:spPr>
      </p:sp>
      <p:sp>
        <p:nvSpPr>
          <p:cNvPr id="19" name="Shape 14"/>
          <p:cNvSpPr/>
          <p:nvPr/>
        </p:nvSpPr>
        <p:spPr>
          <a:xfrm>
            <a:off x="6297168" y="1847088"/>
            <a:ext cx="2487168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03008" y="2011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0592A"/>
          </a:solidFill>
          <a:ln/>
        </p:spPr>
      </p:sp>
      <p:pic>
        <p:nvPicPr>
          <p:cNvPr id="21" name="Image 3" descr="/home/z/my-project/assets/deck_v2/md_MdWifi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880" y="213055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52032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WEB PROGRESSIVE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443472" y="28163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Catalogue entier en cache local, sync différée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881872" y="2560320"/>
            <a:ext cx="237744" cy="201168"/>
          </a:xfrm>
          <a:prstGeom prst="chevron">
            <a:avLst/>
          </a:prstGeom>
          <a:solidFill>
            <a:srgbClr val="0E7C7B"/>
          </a:solidFill>
          <a:ln/>
        </p:spPr>
      </p:sp>
      <p:sp>
        <p:nvSpPr>
          <p:cNvPr id="25" name="Shape 19"/>
          <p:cNvSpPr/>
          <p:nvPr/>
        </p:nvSpPr>
        <p:spPr>
          <a:xfrm>
            <a:off x="9217152" y="1847088"/>
            <a:ext cx="2487168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222992" y="2011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E7C7B"/>
          </a:solidFill>
          <a:ln/>
        </p:spPr>
      </p:sp>
      <p:pic>
        <p:nvPicPr>
          <p:cNvPr id="27" name="Image 4" descr="/home/z/my-project/assets/deck_v2/fa_FaChalkboardTeach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2130552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272016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 ET MAISON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9363456" y="28163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Projeté en classe, rejoué librement à la maison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3712464"/>
            <a:ext cx="11247120" cy="859536"/>
          </a:xfrm>
          <a:prstGeom prst="roundRect">
            <a:avLst>
              <a:gd name="adj" fmla="val 9574"/>
            </a:avLst>
          </a:prstGeom>
          <a:solidFill>
            <a:srgbClr val="EDE8DA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94944" y="3785616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spc="15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CHEMINS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b="1" spc="15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JUSQU'À LA CLASSE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566160" y="3858768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657600" y="3986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E7C7B"/>
          </a:solidFill>
          <a:ln/>
        </p:spPr>
      </p:sp>
      <p:pic>
        <p:nvPicPr>
          <p:cNvPr id="34" name="Image 5" descr="/home/z/my-project/assets/deck_v2/fa_Fa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4055364"/>
            <a:ext cx="173736" cy="17373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041648" y="3858768"/>
            <a:ext cx="2039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international + miroir national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6281928" y="3858768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373368" y="3986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E7C7B"/>
          </a:solidFill>
          <a:ln/>
        </p:spPr>
      </p:sp>
      <p:pic>
        <p:nvPicPr>
          <p:cNvPr id="38" name="Image 6" descr="/home/z/my-project/assets/deck_v2/fa_FaUs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4055364"/>
            <a:ext cx="173736" cy="17373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757416" y="3858768"/>
            <a:ext cx="2039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 hors ligne : clé USB ou réseau local</a:t>
            </a:r>
            <a:endParaRPr lang="en-US" sz="980" dirty="0"/>
          </a:p>
        </p:txBody>
      </p:sp>
      <p:sp>
        <p:nvSpPr>
          <p:cNvPr id="40" name="Shape 31"/>
          <p:cNvSpPr/>
          <p:nvPr/>
        </p:nvSpPr>
        <p:spPr>
          <a:xfrm>
            <a:off x="8997696" y="3858768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089136" y="3986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E7C7B"/>
          </a:solidFill>
          <a:ln/>
        </p:spPr>
      </p:sp>
      <p:pic>
        <p:nvPicPr>
          <p:cNvPr id="42" name="Image 7" descr="/home/z/my-project/assets/deck_v2/fa_FaSolarPane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7716" y="4055364"/>
            <a:ext cx="173736" cy="173736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473184" y="3858768"/>
            <a:ext cx="2039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Smartphone + kit solaire, même sans électricité</a:t>
            </a:r>
            <a:endParaRPr lang="en-US" sz="980" dirty="0"/>
          </a:p>
        </p:txBody>
      </p:sp>
      <p:sp>
        <p:nvSpPr>
          <p:cNvPr id="44" name="Shape 34"/>
          <p:cNvSpPr/>
          <p:nvPr/>
        </p:nvSpPr>
        <p:spPr>
          <a:xfrm>
            <a:off x="457200" y="4828032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A5C5B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58368" y="5047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pic>
        <p:nvPicPr>
          <p:cNvPr id="46" name="Image 8" descr="/home/z/my-project/assets/deck_v2/fa_FaSyncAl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5161788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243584" y="50109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boucle de données</a:t>
            </a:r>
            <a:endParaRPr lang="en-US" sz="1400" dirty="0"/>
          </a:p>
        </p:txBody>
      </p:sp>
      <p:sp>
        <p:nvSpPr>
          <p:cNvPr id="48" name="Text 37"/>
          <p:cNvSpPr txBox="1"/>
          <p:nvPr/>
        </p:nvSpPr>
        <p:spPr>
          <a:xfrm>
            <a:off x="1243584" y="5340096"/>
            <a:ext cx="44805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agrégé et anonymisé : un tableau de bord ministériel et un catalogue recalibré en continu.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6217920" y="4828032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0592A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6419088" y="5047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0592A"/>
          </a:solidFill>
          <a:ln/>
        </p:spPr>
      </p:sp>
      <p:pic>
        <p:nvPicPr>
          <p:cNvPr id="51" name="Image 9" descr="/home/z/my-project/assets/deck_v2/fa_FaGamepa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3388" y="5161788"/>
            <a:ext cx="228600" cy="22860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004304" y="50109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les quiz deviennent des jeux</a:t>
            </a:r>
            <a:endParaRPr lang="en-US" sz="1400" dirty="0"/>
          </a:p>
        </p:txBody>
      </p:sp>
      <p:sp>
        <p:nvSpPr>
          <p:cNvPr id="53" name="Text 41"/>
          <p:cNvSpPr txBox="1"/>
          <p:nvPr/>
        </p:nvSpPr>
        <p:spPr>
          <a:xfrm>
            <a:off x="7004304" y="5340096"/>
            <a:ext cx="45262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Points, badges et défis entre classes aux formats BEPC et bac : la répétition devient un plaisir.</a:t>
            </a:r>
            <a:endParaRPr lang="en-US" sz="1050" dirty="0"/>
          </a:p>
        </p:txBody>
      </p:sp>
      <p:sp>
        <p:nvSpPr>
          <p:cNvPr id="54" name="Text 42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ÇA VA MARCHER · LES PREUVES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effets mesurés, un avantage économique décisif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Taille d'effet (Hedges g) des laboratoires virtuels sur les apprentissages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066544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175504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Méta-analyse Li et Liang (2024), PLOS ONE : g = 0,686. En clair : un élève soutenu par des TP virtuels progresse mieux qu'environ 75 % des élèves enseignés sans.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903720" y="1719072"/>
            <a:ext cx="482803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903720" y="1719072"/>
            <a:ext cx="82296" cy="10241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141464" y="1810512"/>
            <a:ext cx="1234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89 %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8476488" y="1792224"/>
            <a:ext cx="30175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élèves montrent des gains de connaissances mesurables avec les laboratoires virtuels (Labster).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903720" y="2999232"/>
            <a:ext cx="4828032" cy="2542032"/>
          </a:xfrm>
          <a:prstGeom prst="roundRect">
            <a:avLst>
              <a:gd name="adj" fmla="val 3597"/>
            </a:avLst>
          </a:prstGeom>
          <a:solidFill>
            <a:srgbClr val="0A5C5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123176" y="31455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F8E4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qu'on gagne en choisissant le virtuel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123176" y="351129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Équipement physique · minimum national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9500616" y="3456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 Md FCFA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123176" y="3858768"/>
            <a:ext cx="4389120" cy="146304"/>
          </a:xfrm>
          <a:prstGeom prst="roundRect">
            <a:avLst>
              <a:gd name="adj" fmla="val 50000"/>
            </a:avLst>
          </a:prstGeom>
          <a:solidFill>
            <a:srgbClr val="E0592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123176" y="413308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VirtuLab · national, trois ans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9500616" y="40782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CE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297 M FCFA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7123176" y="4480560"/>
            <a:ext cx="536448" cy="14630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123176" y="4736592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E4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 × moins cher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7123176" y="526694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jusqu'à 33 × au standard complet (12 M par labo, UNICEF 2025).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6903720" y="589788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Preuve surtout du supérieur : pilote évalué localement avec groupes témoins.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: Li et Liang (2024), PLOS ONE ; Labster. Coûts : minimum ≈ 3 M FCFA par labo (marché togolais) ; standard 12 M (UNICEF, 2025).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DÉMONSTRATION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tableau de bord web, avec un TP en situation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02336" y="1719072"/>
            <a:ext cx="11356848" cy="4637865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DE8DA"/>
            </a:solidFill>
            <a:prstDash val="solid"/>
          </a:ln>
        </p:spPr>
      </p:sp>
      <p:pic>
        <p:nvPicPr>
          <p:cNvPr id="8" name="Image 1" descr="/home/z/my-project/assets/deck_v2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3936"/>
            <a:ext cx="11247120" cy="45281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6430089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tableau de bord web · TP « Dosage acide-base » en 3e · simulation libre, protocole guidé et quiz-jeu aligné BEPC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Hourglass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MAINTENANT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fenêtre 2026-2027 est ouverte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810512"/>
            <a:ext cx="5486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204825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" y="2048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25296" y="202996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réforme est officielle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1225296" y="252374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TP sont exigés au collège et au lycée ; les épreuves de BEPC et de bac en traduisent déjà l'exigence.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810512"/>
            <a:ext cx="5486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37376" y="204825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37376" y="2048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986016" y="202996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bailleurs sont mobilisés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6986016" y="252374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Programme d'appui documenté avec le GPE depuis 2025 ; l'initiative Giga (UNICEF-UIT) connecte les écoles africaines.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730752"/>
            <a:ext cx="5486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" y="396849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76656" y="3968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25296" y="395020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précédents existent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1225296" y="444398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Rwanda : 200 contenus numériques avec le GPE ; PraxiLabs 2e au GR4TE 2026 ; PhET prouve le modèle gratuit depuis 2002.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3730752"/>
            <a:ext cx="5486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37376" y="396849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E0592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37376" y="3968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986016" y="395020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place est encore libre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6986016" y="444398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Aucune plateforme n'aligne le programme togolais TP par TP. Ce sera une équipe togolaise, ou quelqu'un d'autre, sans le Togo.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5724144"/>
            <a:ext cx="11247120" cy="530352"/>
          </a:xfrm>
          <a:prstGeom prst="roundRect">
            <a:avLst>
              <a:gd name="adj" fmla="val 15517"/>
            </a:avLst>
          </a:prstGeom>
          <a:solidFill>
            <a:srgbClr val="F8E4D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" y="5724144"/>
            <a:ext cx="10698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Chaque année de retard prive des centaines de milliers d'élèves d'une partie de leur formation scientifique.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: Global Partnership for Education (2024-2025) ; CIO Mag (2025), initiative Giga ; HundrED (2024).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DÉPLOIEMENT EN TROIS ANS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phase est conditionnée par la preuve de la précédente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Établissements couverts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048256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394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1 : pilote  ·  An 2 : extension régionale  ·  An 3 : déploiement national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263640" y="1755648"/>
            <a:ext cx="54406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63640" y="1755648"/>
            <a:ext cx="82296" cy="135331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1384" y="1865376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1 · Pilote et preuve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212848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simulateurs · 40 établissements volontaires (Maritime, Plateaux, Kara) · 200 enseignants formés · convention-cadre et comité scientifique.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63640" y="3236976"/>
            <a:ext cx="54406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3236976"/>
            <a:ext cx="82296" cy="135331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501384" y="3346704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2 · Extension régionale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501384" y="3694176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simulateurs au total · 300 établissements via les directions régionales · 2 000 enseignants formés · intégration à l'ENT et référentiel arrêté.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63640" y="4718304"/>
            <a:ext cx="54406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4718304"/>
            <a:ext cx="82296" cy="1353312"/>
          </a:xfrm>
          <a:prstGeom prst="rect">
            <a:avLst/>
          </a:prstGeom>
          <a:solidFill>
            <a:srgbClr val="E0592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501384" y="482803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3 · Déploiement national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501384" y="5175504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 simulateurs, catalogue complet · 800 établissements et plus · 8 000 enseignants formés · transfert des compétences techniques au ministère.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Co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BUDGET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297 millions de FCFA sur trois ans, un récurrent maîtrisé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prévisionnel (millions de FCFA)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048256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303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programme : 297 M FCFA, soit environ 0,45 million d'euros.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897880" y="1755648"/>
            <a:ext cx="5806440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35624" y="186537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l'argent construit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135624" y="2194560"/>
            <a:ext cx="5330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51 % de l'année 1 pour la plateforme et les 20 premiers simulateurs ; plus de la moitié de l'enveloppe triennale va au contenu et à la formation, les deux actifs durables.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97880" y="3218688"/>
            <a:ext cx="5806440" cy="1316736"/>
          </a:xfrm>
          <a:prstGeom prst="roundRect">
            <a:avLst>
              <a:gd name="adj" fmla="val 6944"/>
            </a:avLst>
          </a:prstGeom>
          <a:solidFill>
            <a:srgbClr val="F8E4D9"/>
          </a:solidFill>
          <a:ln w="19050">
            <a:solidFill>
              <a:srgbClr val="E0592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35624" y="332841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récurrent, prévu dès maintenant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135624" y="3657600"/>
            <a:ext cx="5330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Dès la quatrième année, l'État prend en charge hébergement et maintenance pour environ 12 M FCFA par an : environ 10 % de la seule formule minimale d'équipement des 40 établissements du pilote.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97880" y="4681728"/>
            <a:ext cx="5806440" cy="1481328"/>
          </a:xfrm>
          <a:prstGeom prst="roundRect">
            <a:avLst>
              <a:gd name="adj" fmla="val 617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35624" y="479145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montage multi-bailleurs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135624" y="5120640"/>
            <a:ext cx="533095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C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État togolais · Partenariat mondial pour l'éducation (GPE) · agences de coopération (AFD, GIZ, UNICEF) · opérateurs télécoms (tarification zéro du trafic) · universités de Lomé et de Kara (comité scientifique).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prévisionnel de l'équipe · parité de référence : 655,957 FCFA pour un euro.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L'IMPACT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Togo y gagne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828800"/>
            <a:ext cx="548640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28800"/>
            <a:ext cx="82296" cy="195681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4944" y="19933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600 000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élèves touchés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889504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accès gratuit et complet aux TP, y compris dans les zones sans électricité ni laboratoire : plus aucun élève examiné sur ce qu'il n'a jamais manipulé.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548640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82296" cy="195681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55664" y="19933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8 000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enseignants formés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55664" y="2889504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séances prêtes à l'emploi et des démonstrations fiables : moins de temps de préparation, une continuité pédagogique assurée même avec les départs d'enseignants.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548640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4023360"/>
            <a:ext cx="82296" cy="1956816"/>
          </a:xfrm>
          <a:prstGeom prst="rect">
            <a:avLst/>
          </a:prstGeom>
          <a:solidFill>
            <a:srgbClr val="E059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4944" y="4187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5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 ×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" y="4773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moins cher pour l'État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94944" y="5084064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réforme devient exécutable partout pour 297 M FCFA, au lieu d'au moins 2,4 milliards en équipement physique : l'argent public va à l'usage, pas au bâti.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17920" y="4023360"/>
            <a:ext cx="548640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0" y="4023360"/>
            <a:ext cx="82296" cy="1956816"/>
          </a:xfrm>
          <a:prstGeom prst="rect">
            <a:avLst/>
          </a:prstGeom>
          <a:solidFill>
            <a:srgbClr val="E0592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55664" y="4187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5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Inédit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6455664" y="4773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piloter sur des données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55664" y="5084064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Statistiques d'usage agrégées et anonymisées : le ministère voit enfin la pratique réelle des TP et pilote sa politique scientifique sur des faits.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6035040"/>
            <a:ext cx="10698480" cy="512064"/>
          </a:xfrm>
          <a:prstGeom prst="roundRect">
            <a:avLst>
              <a:gd name="adj" fmla="val 16071"/>
            </a:avLst>
          </a:prstGeom>
          <a:solidFill>
            <a:srgbClr val="0E7C7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" y="6035040"/>
            <a:ext cx="10149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actif technologique national, réutilisable par d'autres matières : le Togo, référence francophone des TP virtuels.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L'ÉQUIPE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fondateurs, une complémentarité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1933956" y="1828800"/>
            <a:ext cx="41605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8" name="Image 1" descr="/home/z/my-project/assets/deck/team_djab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2121408"/>
            <a:ext cx="1371600" cy="1371600"/>
          </a:xfrm>
          <a:prstGeom prst="ellipse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16836" y="362102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DJABON Ounimborbititou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2116836" y="40050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 et simulateurs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2253996" y="4352544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de la plateforme, développement HTML5 des simulateurs, packs hors ligne et données d'usage.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643116" y="1828800"/>
            <a:ext cx="41605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13" name="Image 2" descr="/home/z/my-project/assets/deck/team_rol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2121408"/>
            <a:ext cx="1371600" cy="1371600"/>
          </a:xfrm>
          <a:prstGeom prst="ellipse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25996" y="362102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HOUNKPE Mawulikpimi Roland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6825996" y="40050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Pédagogie et partenariats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963156" y="4352544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Cartographie des TP avec les inspecteurs, comité scientifique, formation des enseignants et partenariats.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979676" y="5614416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DCEBEA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979676" y="56144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Partagé : le pilote des 40 établissements, la mesure d'impact et le plaidoyer de financement.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Ancrage local : Université de Lomé · AIMS Ghana (African Institute for Mathematical Sciences).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5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assets/deck_v2/water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91840"/>
            <a:ext cx="4005072" cy="23682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4" name="Image 1" descr="/home/z/my-project/assets/deck_v2/fa_Fa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" y="534924"/>
            <a:ext cx="192024" cy="19202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32688" y="42062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DC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96112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demande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960120" y="2011680"/>
            <a:ext cx="475488" cy="475488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60120" y="2011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1956816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regard critique et votre appui scientifique</a:t>
            </a:r>
            <a:endParaRPr lang="en-US" sz="185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2359152"/>
            <a:ext cx="9509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 le concept, le catalogue et le protocole d'évaluation du pilote, en vue du comité scientifique avec l'Université de Lomé et l'Université de Kara.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60120" y="3236976"/>
            <a:ext cx="475488" cy="475488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60120" y="3236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182112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mise en relation au ministère</a:t>
            </a:r>
            <a:endParaRPr lang="en-US" sz="185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3584448"/>
            <a:ext cx="9509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nous ne demandons pas que vous financiez, mais que vous ouvriez la porte du ministère pour cadrer le catalogue TP par TP avec les inspecteurs.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60120" y="4462272"/>
            <a:ext cx="475488" cy="475488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60120" y="4462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1691640" y="4407408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orientations vers les bons guichets</a:t>
            </a:r>
            <a:endParaRPr lang="en-US" sz="1850" dirty="0"/>
          </a:p>
        </p:txBody>
      </p:sp>
      <p:sp>
        <p:nvSpPr>
          <p:cNvPr id="18" name="Text 14"/>
          <p:cNvSpPr txBox="1"/>
          <p:nvPr/>
        </p:nvSpPr>
        <p:spPr>
          <a:xfrm>
            <a:off x="1691640" y="4809744"/>
            <a:ext cx="9509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GPE, AFD, GIZ, UNICEF : aidez-nous à affiner le montage de 297 M FCFA et à saisir la fenêtre 2026-2027 avant quelqu'un d'autre.</a:t>
            </a:r>
            <a:endParaRPr lang="en-US" sz="1200" dirty="0"/>
          </a:p>
        </p:txBody>
      </p:sp>
      <p:pic>
        <p:nvPicPr>
          <p:cNvPr id="19" name="Image 2" descr="/home/z/my-project/assets/deck_v2/fa_FaPhone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607161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61872" y="6035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+228 92 39 97 21   ·   +228 93 21 72 15</a:t>
            </a:r>
            <a:endParaRPr lang="en-US" sz="1100" dirty="0"/>
          </a:p>
        </p:txBody>
      </p:sp>
      <p:pic>
        <p:nvPicPr>
          <p:cNvPr id="21" name="Image 3" descr="/home/z/my-project/assets/deck_v2/fa_Fa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645566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61872" y="64190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djabon@aims.edu.gh   ·   rhounkpe@aims.edu.gh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VirtuLab Togo · Équipe ExamBoost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VirtuLab Togo · Plateforme nationale de travaux pratiques virtuels</dc:title>
  <dc:subject>Présentation de crédibilité scientifique et demande de parrainage</dc:subject>
  <dc:creator>DJABON Ounimborbititou &amp; HOUNKPE Mawulikpimi Roland</dc:creator>
  <cp:lastModifiedBy>DJABON Ounimborbititou &amp; HOUNKPE Mawulikpimi Roland</cp:lastModifiedBy>
  <cp:revision>1</cp:revision>
  <dcterms:created xsi:type="dcterms:W3CDTF">2026-09-11T09:34:16Z</dcterms:created>
  <dcterms:modified xsi:type="dcterms:W3CDTF">2026-09-11T09:34:16Z</dcterms:modified>
</cp:coreProperties>
</file>