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Établissements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0592A"/>
              </a:solidFill>
              <a:effectLst/>
            </c:spPr>
          </c:dPt>
          <c:dPt>
            <c:idx val="1"/>
            <c:bubble3D val="0"/>
            <c:spPr>
              <a:solidFill>
                <a:srgbClr val="DCEBEA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Sans laboratoire correctement équipé</c:v>
                </c:pt>
                <c:pt idx="1">
                  <c:v>Avec laboratoire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Repères de Cohen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Méta-analyse 2024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Effet faible</c:v>
                  </c:pt>
                  <c:pt idx="1">
                    <c:v>Effet modéré</c:v>
                  </c:pt>
                  <c:pt idx="2">
                    <c:v>Effet fort</c:v>
                  </c:pt>
                  <c:pt idx="3">
                    <c:v>Laboratoires virtuels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0.686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DE8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7B80"/>
                </a:solidFill>
                <a:latin typeface="Trebuchet MS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Pilote</c:v>
                </c:pt>
              </c:strCache>
            </c:strRef>
          </c:tx>
          <c:spPr>
            <a:solidFill>
              <a:srgbClr val="8A959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Extension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300</c:v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National</c:v>
                </c:pt>
              </c:strCache>
            </c:strRef>
          </c:tx>
          <c:spPr>
            <a:solidFill>
              <a:srgbClr val="E0592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800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 annuel</c:v>
                </c:pt>
              </c:strCache>
            </c:strRef>
          </c:tx>
          <c:spPr>
            <a:solidFill>
              <a:srgbClr val="0E7C7B"/>
            </a:solidFill>
            <a:effectLst/>
          </c:spPr>
          <c:invertIfNegative val="0"/>
          <c:dLbls>
            <c:numFmt formatCode="0&quot; M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2333B"/>
                    </a:solidFill>
                    <a:latin typeface="Trebuchet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 1</c:v>
                  </c:pt>
                  <c:pt idx="1">
                    <c:v>An 2</c:v>
                  </c:pt>
                  <c:pt idx="2">
                    <c:v>An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117</c:v>
                </c:pt>
                <c:pt idx="1">
                  <c:v>85</c:v>
                </c:pt>
                <c:pt idx="2">
                  <c:v>95</c:v>
                </c:pt>
              </c:numCache>
            </c:numRef>
          </c:val>
        </c:ser>
        <c:dLbls>
          <c:numFmt formatCode="0&quot; M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22333B"/>
                  </a:solidFill>
                  <a:latin typeface="Trebuchet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333B"/>
                </a:solidFill>
                <a:latin typeface="Trebuchet M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5.png"/><Relationship Id="rId7" Type="http://schemas.openxmlformats.org/officeDocument/2006/relationships/image" Target="../media/image-4-5.png"/><Relationship Id="rId8" Type="http://schemas.openxmlformats.org/officeDocument/2006/relationships/image" Target="../media/image-4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559552" cy="68580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71323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64208"/>
            <a:ext cx="47091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Plateforme nationale de travaux pratiques virtuels</a:t>
            </a:r>
            <a:endParaRPr lang="en-US" sz="17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50" i="1" dirty="0">
                <a:solidFill>
                  <a:srgbClr val="DCEB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pour le collège et le lycée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50292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205740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5740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209397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MATIÈRES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611880" y="2871216"/>
            <a:ext cx="1444752" cy="896112"/>
          </a:xfrm>
          <a:prstGeom prst="roundRect">
            <a:avLst>
              <a:gd name="adj" fmla="val 9184"/>
            </a:avLst>
          </a:prstGeom>
          <a:solidFill>
            <a:srgbClr val="FFFFFF">
              <a:alpha val="13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2962656"/>
            <a:ext cx="1444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6e · Tle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3648456" y="3383280"/>
            <a:ext cx="13716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 ET LYCÉE</a:t>
            </a:r>
            <a:endParaRPr lang="en-US" sz="78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33088"/>
            <a:ext cx="4846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Présenté au Dr Pagdame Tiebekabe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91456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Enseignant-chercheur, techno-pédagogue · Université de Kara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552297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 Ounimborbititou   ·   HOUNKPE Mawulikpimi Roland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5815584"/>
            <a:ext cx="4892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Université de Lomé   ·   AIMS Ghana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089904"/>
            <a:ext cx="4892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Septembre 2026</a:t>
            </a:r>
            <a:endParaRPr lang="en-US" sz="1000" dirty="0"/>
          </a:p>
        </p:txBody>
      </p:sp>
      <p:pic>
        <p:nvPicPr>
          <p:cNvPr id="19" name="Image 0" descr="/home/z/my-project/assets/deck_v2/cover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9552" y="0"/>
            <a:ext cx="6629400" cy="4261104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559552" y="4261104"/>
            <a:ext cx="6629400" cy="45720"/>
          </a:xfrm>
          <a:prstGeom prst="rect">
            <a:avLst/>
          </a:prstGeom>
          <a:solidFill>
            <a:srgbClr val="F5F2E9"/>
          </a:solidFill>
          <a:ln/>
        </p:spPr>
      </p:sp>
      <p:pic>
        <p:nvPicPr>
          <p:cNvPr id="21" name="Image 1" descr="/home/z/my-project/assets/deck_v2/cover_l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4306824"/>
            <a:ext cx="662940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GlobeAfr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PROBLÈME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réforme des TP bute sur le manque de laboratoires</a:t>
            </a:r>
            <a:endParaRPr lang="en-US" sz="285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00784"/>
            <a:ext cx="64922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ministère a inscrit les TP au programme du collège et du lycée. Le laboratoire, lui, manque presque partout.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542032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" y="2542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" y="2468880"/>
            <a:ext cx="5897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TP « racontés » au tableau plutôt que pratiqués, faute de matériel dans les salles.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62102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6210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42416" y="3547872"/>
            <a:ext cx="5897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Plusieurs millions de FCFA pour un seul laboratoire complet : hors de portée du budget public.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470001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47000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42416" y="4626864"/>
            <a:ext cx="5897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élèves des zones reculées préparent des épreuves portant sur des manipulations qu'ils n'ont jamais réalisées.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269480" y="1700784"/>
            <a:ext cx="44348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F8E4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543800" y="1920240"/>
            <a:ext cx="3886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915 214</a:t>
            </a:r>
            <a:endParaRPr lang="en-US" sz="4200" dirty="0"/>
          </a:p>
        </p:txBody>
      </p:sp>
      <p:sp>
        <p:nvSpPr>
          <p:cNvPr id="19" name="Text 16"/>
          <p:cNvSpPr txBox="1"/>
          <p:nvPr/>
        </p:nvSpPr>
        <p:spPr>
          <a:xfrm>
            <a:off x="7635240" y="2706624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du secondaire au Togo sont concernés par la réforme des TP.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7635240" y="3529584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Banque mondiale et ISU, 2023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269480" y="4133088"/>
            <a:ext cx="443484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9050">
            <a:solidFill>
              <a:srgbClr val="DCEB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69480" y="4133088"/>
            <a:ext cx="82296" cy="193852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62088" y="4334256"/>
            <a:ext cx="38679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Les TP sont souvent racontés au tableau plutôt que pratiqués. »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7562088" y="5468112"/>
            <a:ext cx="38679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Constat récurrent des inspections dans les salles sans matériel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Banque mondiale et Institut de statistique de l'UNESCO (2023) ; Direction de la Planification de l'Éducation, Togo (2025).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MapMarker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PROBLÈME EN CHIFFRES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coûterait l'équipement physique de tout le pays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773936"/>
            <a:ext cx="521208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0" y="1773936"/>
            <a:ext cx="576072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" y="190195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besoin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432304"/>
          <a:ext cx="214884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017520" y="256032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90 %</a:t>
            </a:r>
            <a:endParaRPr lang="en-US" sz="3100" dirty="0"/>
          </a:p>
        </p:txBody>
      </p:sp>
      <p:sp>
        <p:nvSpPr>
          <p:cNvPr id="12" name="Text 8"/>
          <p:cNvSpPr txBox="1"/>
          <p:nvPr/>
        </p:nvSpPr>
        <p:spPr>
          <a:xfrm>
            <a:off x="3017520" y="3163824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établissements secondaires d'Afrique n'ont pas de laboratoire correctement équipé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017520" y="411480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MOHAC Africa, 2026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86384" y="471830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0592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1005840" y="46634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Sans laboratoire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011680" y="471830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CEBEA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231136" y="4663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Avec laboratoire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13232" y="4901184"/>
            <a:ext cx="4700016" cy="12802"/>
          </a:xfrm>
          <a:prstGeom prst="rect">
            <a:avLst/>
          </a:prstGeom>
          <a:solidFill>
            <a:srgbClr val="EDE8DA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13232" y="4992624"/>
            <a:ext cx="47000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 Togo : </a:t>
            </a:r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697 532 collégiens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et </a:t>
            </a:r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750 lycées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attendent cette pratique.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163056" y="1901952"/>
            <a:ext cx="5321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coûterait l'équipement physique, sans VirtuLab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181344" y="2340864"/>
            <a:ext cx="1554480" cy="969264"/>
          </a:xfrm>
          <a:prstGeom prst="roundRect">
            <a:avLst>
              <a:gd name="adj" fmla="val 7547"/>
            </a:avLst>
          </a:prstGeom>
          <a:solidFill>
            <a:srgbClr val="F8E4D9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181344" y="2450592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 FCFA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6236208" y="2907792"/>
            <a:ext cx="1444752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 laboratoire complet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7735824" y="2340864"/>
            <a:ext cx="2743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8010144" y="2340864"/>
            <a:ext cx="1188720" cy="969264"/>
          </a:xfrm>
          <a:prstGeom prst="roundRect">
            <a:avLst>
              <a:gd name="adj" fmla="val 7547"/>
            </a:avLst>
          </a:prstGeom>
          <a:solidFill>
            <a:srgbClr val="F8E4D9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8010144" y="2450592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800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8055864" y="290779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établissements visés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9198864" y="2340864"/>
            <a:ext cx="27432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B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9473184" y="2340864"/>
            <a:ext cx="1993392" cy="969264"/>
          </a:xfrm>
          <a:prstGeom prst="roundRect">
            <a:avLst>
              <a:gd name="adj" fmla="val 7547"/>
            </a:avLst>
          </a:prstGeom>
          <a:solidFill>
            <a:srgbClr val="E0592A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473184" y="245059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12 milliards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9473184" y="2907792"/>
            <a:ext cx="1993392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FCFA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6181344" y="3474720"/>
            <a:ext cx="528523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ce n'est pas fini :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consommables et de la maintenance à financer chaque année, dans chaque établissement.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6181344" y="4059936"/>
            <a:ext cx="5285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Encore faut-il l'électricité pour qu'un laboratoire fonctionne :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181344" y="4370832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Électrification nationale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10515600" y="43708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61,1 %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181344" y="4663440"/>
            <a:ext cx="5248656" cy="12801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37" name="Shape 33"/>
          <p:cNvSpPr/>
          <p:nvPr/>
        </p:nvSpPr>
        <p:spPr>
          <a:xfrm>
            <a:off x="6181344" y="4663440"/>
            <a:ext cx="3206929" cy="12801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6181344" y="4919472"/>
            <a:ext cx="4334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Électrification en zones rurales</a:t>
            </a:r>
            <a:endParaRPr lang="en-US" sz="110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0" y="49194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059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33,9 %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6181344" y="5212080"/>
            <a:ext cx="5248656" cy="128016"/>
          </a:xfrm>
          <a:prstGeom prst="roundRect">
            <a:avLst>
              <a:gd name="adj" fmla="val 50000"/>
            </a:avLst>
          </a:prstGeom>
          <a:solidFill>
            <a:srgbClr val="EDE8DA"/>
          </a:solidFill>
          <a:ln/>
        </p:spPr>
      </p:sp>
      <p:sp>
        <p:nvSpPr>
          <p:cNvPr id="41" name="Shape 37"/>
          <p:cNvSpPr/>
          <p:nvPr/>
        </p:nvSpPr>
        <p:spPr>
          <a:xfrm>
            <a:off x="6181344" y="5212080"/>
            <a:ext cx="1779294" cy="128016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42" name="Shape 38"/>
          <p:cNvSpPr/>
          <p:nvPr/>
        </p:nvSpPr>
        <p:spPr>
          <a:xfrm>
            <a:off x="457200" y="5669280"/>
            <a:ext cx="11247120" cy="603504"/>
          </a:xfrm>
          <a:prstGeom prst="roundRect">
            <a:avLst>
              <a:gd name="adj" fmla="val 13636"/>
            </a:avLst>
          </a:prstGeom>
          <a:solidFill>
            <a:srgbClr val="0A5C5B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731520" y="5669280"/>
            <a:ext cx="10698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réforme exige des TP partout. Un budget de laboratoires partout n'existe pas : la pratique reste concentrée dans quelques établissements urbains.</a:t>
            </a:r>
            <a:endParaRPr lang="en-US" sz="1250" dirty="0"/>
          </a:p>
        </p:txBody>
      </p:sp>
      <p:sp>
        <p:nvSpPr>
          <p:cNvPr id="44" name="Text 40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MOHAC Africa (2026) ; Banque mondiale (2024). Hypothèse prudente de l'équipe : 10 à 20 M FCFA par laboratoire, à affiner avec les services du ministère.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At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VirtuLab Togo : le laboratoire dans chaque poche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66420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 plateforme web publique et gratuite : tous les TP du programme officiel en simulateurs numériques, utilisables sans réseau.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0E7C7B"/>
          </a:solidFill>
          <a:ln/>
        </p:spPr>
      </p:sp>
      <p:pic>
        <p:nvPicPr>
          <p:cNvPr id="10" name="Image 1" descr="/home/z/my-project/assets/deck_v2/fa_FaA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" y="256489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1460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TP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9494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Physique-chimie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69494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Circuits, optique, mécanique, dosage des solutions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27482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1256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E0592A"/>
          </a:solidFill>
          <a:ln/>
        </p:spPr>
      </p:sp>
      <p:pic>
        <p:nvPicPr>
          <p:cNvPr id="16" name="Image 2" descr="/home/z/my-project/assets/deck_v2/fa_FaLea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5648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222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TP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451256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SVT</a:t>
            </a:r>
            <a:endParaRPr lang="en-US" sz="1650" dirty="0"/>
          </a:p>
        </p:txBody>
      </p:sp>
      <p:sp>
        <p:nvSpPr>
          <p:cNvPr id="19" name="Text 14"/>
          <p:cNvSpPr txBox="1"/>
          <p:nvPr/>
        </p:nvSpPr>
        <p:spPr>
          <a:xfrm>
            <a:off x="451256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Cellule, génétique, écosystèmes, nutrition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092440" y="2176272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30184" y="2414016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8A959B"/>
          </a:solidFill>
          <a:ln/>
        </p:spPr>
      </p:sp>
      <p:pic>
        <p:nvPicPr>
          <p:cNvPr id="22" name="Image 3" descr="/home/z/my-project/assets/deck_v2/fa_FaSquareRoot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060" y="25648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149840" y="2432304"/>
            <a:ext cx="13167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TP</a:t>
            </a:r>
            <a:endParaRPr lang="en-US" sz="2400" dirty="0"/>
          </a:p>
        </p:txBody>
      </p:sp>
      <p:sp>
        <p:nvSpPr>
          <p:cNvPr id="24" name="Text 18"/>
          <p:cNvSpPr txBox="1"/>
          <p:nvPr/>
        </p:nvSpPr>
        <p:spPr>
          <a:xfrm>
            <a:off x="8330184" y="3127248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Mathématiques</a:t>
            </a:r>
            <a:endParaRPr lang="en-US" sz="1650" dirty="0"/>
          </a:p>
        </p:txBody>
      </p:sp>
      <p:sp>
        <p:nvSpPr>
          <p:cNvPr id="25" name="Text 19"/>
          <p:cNvSpPr txBox="1"/>
          <p:nvPr/>
        </p:nvSpPr>
        <p:spPr>
          <a:xfrm>
            <a:off x="8330184" y="3529584"/>
            <a:ext cx="31363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Fonctions, géométrie dynamique, statistiques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57200" y="4498848"/>
            <a:ext cx="11247120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13232" y="4608576"/>
            <a:ext cx="23774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la 6e à la terminale</a:t>
            </a:r>
            <a:endParaRPr lang="en-US" sz="1450" dirty="0"/>
          </a:p>
        </p:txBody>
      </p:sp>
      <p:sp>
        <p:nvSpPr>
          <p:cNvPr id="28" name="Shape 22"/>
          <p:cNvSpPr/>
          <p:nvPr/>
        </p:nvSpPr>
        <p:spPr>
          <a:xfrm>
            <a:off x="315468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315468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6e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412394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12394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5e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093208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5093208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4e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6062472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DCEBEA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062472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3e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7031736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7031736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2de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8001000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8001000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1re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8970264" y="4681728"/>
            <a:ext cx="841248" cy="457200"/>
          </a:xfrm>
          <a:prstGeom prst="roundRect">
            <a:avLst>
              <a:gd name="adj" fmla="val 16000"/>
            </a:avLst>
          </a:prstGeom>
          <a:solidFill>
            <a:srgbClr val="F8E4D9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8970264" y="4681728"/>
            <a:ext cx="841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Tle</a:t>
            </a:r>
            <a:endParaRPr lang="en-US" sz="1300" dirty="0"/>
          </a:p>
        </p:txBody>
      </p:sp>
      <p:sp>
        <p:nvSpPr>
          <p:cNvPr id="42" name="Text 36"/>
          <p:cNvSpPr txBox="1"/>
          <p:nvPr/>
        </p:nvSpPr>
        <p:spPr>
          <a:xfrm>
            <a:off x="3154680" y="519379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COLLÈGE</a:t>
            </a:r>
            <a:endParaRPr lang="en-US" sz="850" dirty="0"/>
          </a:p>
        </p:txBody>
      </p:sp>
      <p:sp>
        <p:nvSpPr>
          <p:cNvPr id="43" name="Text 37"/>
          <p:cNvSpPr txBox="1"/>
          <p:nvPr/>
        </p:nvSpPr>
        <p:spPr>
          <a:xfrm>
            <a:off x="7031736" y="5193792"/>
            <a:ext cx="27797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E059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LYCÉE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45720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5" name="Image 4" descr="/home/z/my-project/assets/deck_v2/fa_FaCheck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925312"/>
            <a:ext cx="201168" cy="201168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9611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Gratuit pour tous</a:t>
            </a:r>
            <a:endParaRPr lang="en-US" sz="1150" dirty="0"/>
          </a:p>
        </p:txBody>
      </p:sp>
      <p:sp>
        <p:nvSpPr>
          <p:cNvPr id="47" name="Shape 40"/>
          <p:cNvSpPr/>
          <p:nvPr/>
        </p:nvSpPr>
        <p:spPr>
          <a:xfrm>
            <a:off x="330708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48" name="Image 5" descr="/home/z/my-project/assets/deck_v2/fa_FaCheck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9960" y="5925312"/>
            <a:ext cx="201168" cy="201168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374599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 ligne d'abord</a:t>
            </a:r>
            <a:endParaRPr lang="en-US" sz="1150" dirty="0"/>
          </a:p>
        </p:txBody>
      </p:sp>
      <p:sp>
        <p:nvSpPr>
          <p:cNvPr id="50" name="Shape 42"/>
          <p:cNvSpPr/>
          <p:nvPr/>
        </p:nvSpPr>
        <p:spPr>
          <a:xfrm>
            <a:off x="615696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1" name="Image 6" descr="/home/z/my-project/assets/deck_v2/fa_FaCheck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9840" y="5925312"/>
            <a:ext cx="201168" cy="20116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659587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Aligné TP par TP</a:t>
            </a:r>
            <a:endParaRPr lang="en-US" sz="1150" dirty="0"/>
          </a:p>
        </p:txBody>
      </p:sp>
      <p:sp>
        <p:nvSpPr>
          <p:cNvPr id="53" name="Shape 44"/>
          <p:cNvSpPr/>
          <p:nvPr/>
        </p:nvSpPr>
        <p:spPr>
          <a:xfrm>
            <a:off x="9006840" y="5797296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54" name="Image 7" descr="/home/z/my-project/assets/deck_v2/fa_FaCheck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5925312"/>
            <a:ext cx="201168" cy="20116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45752" y="5797296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 classe et élève</a:t>
            </a:r>
            <a:endParaRPr lang="en-US" sz="1150" dirty="0"/>
          </a:p>
        </p:txBody>
      </p:sp>
      <p:sp>
        <p:nvSpPr>
          <p:cNvPr id="56" name="Text 4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COMMENT ÇA MARCHE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Cinq étapes, du programme officiel à la classe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25296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523744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1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Référencer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621792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Cartographie des TP du programme officiel avec les inspecteurs.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530602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14" name="Shape 10"/>
          <p:cNvSpPr/>
          <p:nvPr/>
        </p:nvSpPr>
        <p:spPr>
          <a:xfrm>
            <a:off x="2738628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506724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16" name="Image 2" descr="/home/z/my-project/assets/deck_v2/fa_FaPencilRul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523744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738628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2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2738628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Concevoir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2903220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Scénario pédagogique : objectif, pièges, quiz type examen.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812030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21" name="Shape 16"/>
          <p:cNvSpPr/>
          <p:nvPr/>
        </p:nvSpPr>
        <p:spPr>
          <a:xfrm>
            <a:off x="5020056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788152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23" name="Image 3" descr="/home/z/my-project/assets/deck_v2/fa_FaLaptop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523744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020056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3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5020056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Développer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5184648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 HTML5 de 1 à 3 Mo, utilisable en partie localement.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093458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28" name="Shape 22"/>
          <p:cNvSpPr/>
          <p:nvPr/>
        </p:nvSpPr>
        <p:spPr>
          <a:xfrm>
            <a:off x="7301484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69580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0E7C7B"/>
          </a:solidFill>
          <a:ln/>
        </p:spPr>
      </p:sp>
      <p:pic>
        <p:nvPicPr>
          <p:cNvPr id="30" name="Image 4" descr="/home/z/my-project/assets/deck_v2/fa_FaCheckDou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5884" y="2523744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01484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4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7301484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Valider</a:t>
            </a:r>
            <a:endParaRPr lang="en-US" sz="1450" dirty="0"/>
          </a:p>
        </p:txBody>
      </p:sp>
      <p:sp>
        <p:nvSpPr>
          <p:cNvPr id="33" name="Text 26"/>
          <p:cNvSpPr txBox="1"/>
          <p:nvPr/>
        </p:nvSpPr>
        <p:spPr>
          <a:xfrm>
            <a:off x="7466076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Double revue : comité scientifique et inspecteurs.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374886" y="3364992"/>
            <a:ext cx="256032" cy="219456"/>
          </a:xfrm>
          <a:prstGeom prst="chevron">
            <a:avLst/>
          </a:prstGeom>
          <a:solidFill>
            <a:srgbClr val="8A959B"/>
          </a:solidFill>
          <a:ln/>
        </p:spPr>
      </p:sp>
      <p:sp>
        <p:nvSpPr>
          <p:cNvPr id="35" name="Shape 28"/>
          <p:cNvSpPr/>
          <p:nvPr/>
        </p:nvSpPr>
        <p:spPr>
          <a:xfrm>
            <a:off x="9582912" y="2103120"/>
            <a:ext cx="2121408" cy="27432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10351008" y="23774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592A"/>
          </a:solidFill>
          <a:ln/>
        </p:spPr>
      </p:sp>
      <p:pic>
        <p:nvPicPr>
          <p:cNvPr id="37" name="Image 5" descr="/home/z/my-project/assets/deck_v2/fa_FaChart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97312" y="2523744"/>
            <a:ext cx="292608" cy="29260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9582912" y="3090672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ÉTAPE 5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9582912" y="3328416"/>
            <a:ext cx="21214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Déployer, mesurer</a:t>
            </a:r>
            <a:endParaRPr lang="en-US" sz="1450" dirty="0"/>
          </a:p>
        </p:txBody>
      </p:sp>
      <p:sp>
        <p:nvSpPr>
          <p:cNvPr id="40" name="Text 32"/>
          <p:cNvSpPr txBox="1"/>
          <p:nvPr/>
        </p:nvSpPr>
        <p:spPr>
          <a:xfrm>
            <a:off x="9747504" y="3730752"/>
            <a:ext cx="179222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en classe, données agrégées, recalibrage.</a:t>
            </a:r>
            <a:endParaRPr lang="en-US" sz="1050" dirty="0"/>
          </a:p>
        </p:txBody>
      </p:sp>
      <p:sp>
        <p:nvSpPr>
          <p:cNvPr id="41" name="Text 33"/>
          <p:cNvSpPr txBox="1"/>
          <p:nvPr/>
        </p:nvSpPr>
        <p:spPr>
          <a:xfrm>
            <a:off x="457200" y="4956048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Boucle de recalibrage : les données d'usage indiquent quels contenus manquent et quoi développer ensuite.</a:t>
            </a:r>
            <a:endParaRPr lang="en-US" sz="1050" dirty="0"/>
          </a:p>
        </p:txBody>
      </p:sp>
      <p:sp>
        <p:nvSpPr>
          <p:cNvPr id="42" name="Shape 34"/>
          <p:cNvSpPr/>
          <p:nvPr/>
        </p:nvSpPr>
        <p:spPr>
          <a:xfrm>
            <a:off x="457200" y="5632704"/>
            <a:ext cx="11247120" cy="548640"/>
          </a:xfrm>
          <a:prstGeom prst="roundRect">
            <a:avLst>
              <a:gd name="adj" fmla="val 15000"/>
            </a:avLst>
          </a:prstGeom>
          <a:solidFill>
            <a:srgbClr val="0E7C7B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731520" y="5632704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simulateur arrive avec sa fiche pédagogique, son protocole de séance prêt à l'emploi et son quiz-jeu d'évaluation.</a:t>
            </a:r>
            <a:endParaRPr lang="en-US" sz="1200" dirty="0"/>
          </a:p>
        </p:txBody>
      </p:sp>
      <p:sp>
        <p:nvSpPr>
          <p:cNvPr id="44" name="Text 3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Layer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SOCLE TECHNIQUE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architecture qui fonctionne sans réseau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63040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9" name="Image 1" descr="/home/z/my-project/assets/deck_v2/fa_FaBook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12" y="2130552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2064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PROGRAMME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03504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TP officiels : fiche, protocole et quiz-jeu par séance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041904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3" name="Shape 9"/>
          <p:cNvSpPr/>
          <p:nvPr/>
        </p:nvSpPr>
        <p:spPr>
          <a:xfrm>
            <a:off x="3377184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83024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15" name="Image 2" descr="/home/z/my-project/assets/deck_v2/fa_FaLaptop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96" y="213055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32048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SIMULATEURS HTML5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523488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à 3 Mo par TP, fluides sur ordinateur et smartphone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5961888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19" name="Shape 14"/>
          <p:cNvSpPr/>
          <p:nvPr/>
        </p:nvSpPr>
        <p:spPr>
          <a:xfrm>
            <a:off x="6297168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03008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E0592A"/>
          </a:solidFill>
          <a:ln/>
        </p:spPr>
      </p:sp>
      <p:pic>
        <p:nvPicPr>
          <p:cNvPr id="21" name="Image 3" descr="/home/z/my-project/assets/deck_v2/md_MdWifiO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880" y="2130552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52032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WEB PROGRESSIVE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443472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catalogue entier en cache local, synchronisation différée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881872" y="2560320"/>
            <a:ext cx="237744" cy="201168"/>
          </a:xfrm>
          <a:prstGeom prst="chevron">
            <a:avLst/>
          </a:prstGeom>
          <a:solidFill>
            <a:srgbClr val="0E7C7B"/>
          </a:solidFill>
          <a:ln/>
        </p:spPr>
      </p:sp>
      <p:sp>
        <p:nvSpPr>
          <p:cNvPr id="25" name="Shape 19"/>
          <p:cNvSpPr/>
          <p:nvPr/>
        </p:nvSpPr>
        <p:spPr>
          <a:xfrm>
            <a:off x="9217152" y="1847088"/>
            <a:ext cx="2487168" cy="1627632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0222992" y="20116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E7C7B"/>
          </a:solidFill>
          <a:ln/>
        </p:spPr>
      </p:sp>
      <p:pic>
        <p:nvPicPr>
          <p:cNvPr id="27" name="Image 4" descr="/home/z/my-project/assets/deck_v2/fa_FaChalkboardTeach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1864" y="2130552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272016" y="254203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CLASSE ET MAISON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9363456" y="2816352"/>
            <a:ext cx="2194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 classe projeté ; l'élève rejoue librement chez lui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712464"/>
            <a:ext cx="11247120" cy="859536"/>
          </a:xfrm>
          <a:prstGeom prst="roundRect">
            <a:avLst>
              <a:gd name="adj" fmla="val 9574"/>
            </a:avLst>
          </a:prstGeom>
          <a:solidFill>
            <a:srgbClr val="EDE8DA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694944" y="3785616"/>
            <a:ext cx="3108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5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TROIS CHEMINS JUSQU'À LA CLASSE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3566160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3657600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4" name="Image 5" descr="/home/z/my-project/assets/deck_v2/fa_FaClou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055364"/>
            <a:ext cx="173736" cy="17373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4041648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international + miroir national</a:t>
            </a:r>
            <a:endParaRPr lang="en-US" sz="980" dirty="0"/>
          </a:p>
        </p:txBody>
      </p:sp>
      <p:sp>
        <p:nvSpPr>
          <p:cNvPr id="36" name="Shape 28"/>
          <p:cNvSpPr/>
          <p:nvPr/>
        </p:nvSpPr>
        <p:spPr>
          <a:xfrm>
            <a:off x="6281928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73368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38" name="Image 6" descr="/home/z/my-project/assets/deck_v2/fa_FaUs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1948" y="4055364"/>
            <a:ext cx="173736" cy="17373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757416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 hors ligne : clé USB ou réseau local</a:t>
            </a:r>
            <a:endParaRPr lang="en-US" sz="980" dirty="0"/>
          </a:p>
        </p:txBody>
      </p:sp>
      <p:sp>
        <p:nvSpPr>
          <p:cNvPr id="40" name="Shape 31"/>
          <p:cNvSpPr/>
          <p:nvPr/>
        </p:nvSpPr>
        <p:spPr>
          <a:xfrm>
            <a:off x="8997696" y="385876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CEBEA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9089136" y="39867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E7C7B"/>
          </a:solidFill>
          <a:ln/>
        </p:spPr>
      </p:sp>
      <p:pic>
        <p:nvPicPr>
          <p:cNvPr id="42" name="Image 7" descr="/home/z/my-project/assets/deck_v2/fa_FaSolarPan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7716" y="4055364"/>
            <a:ext cx="173736" cy="17373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473184" y="3858768"/>
            <a:ext cx="20391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8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Smartphone + kit solaire, même sans électricité</a:t>
            </a:r>
            <a:endParaRPr lang="en-US" sz="980" dirty="0"/>
          </a:p>
        </p:txBody>
      </p:sp>
      <p:sp>
        <p:nvSpPr>
          <p:cNvPr id="44" name="Shape 34"/>
          <p:cNvSpPr/>
          <p:nvPr/>
        </p:nvSpPr>
        <p:spPr>
          <a:xfrm>
            <a:off x="45720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0A5C5B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65836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7B"/>
          </a:solidFill>
          <a:ln/>
        </p:spPr>
      </p:sp>
      <p:pic>
        <p:nvPicPr>
          <p:cNvPr id="46" name="Image 8" descr="/home/z/my-project/assets/deck_v2/fa_FaSyncAl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668" y="5161788"/>
            <a:ext cx="228600" cy="22860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124358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boucle de données</a:t>
            </a:r>
            <a:endParaRPr lang="en-US" sz="1400" dirty="0"/>
          </a:p>
        </p:txBody>
      </p:sp>
      <p:sp>
        <p:nvSpPr>
          <p:cNvPr id="48" name="Text 37"/>
          <p:cNvSpPr txBox="1"/>
          <p:nvPr/>
        </p:nvSpPr>
        <p:spPr>
          <a:xfrm>
            <a:off x="1243584" y="5340096"/>
            <a:ext cx="448056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 agrégé et anonymisé : un tableau de bord pour le ministère et un recalibrage continu du catalogue.</a:t>
            </a:r>
            <a:endParaRPr lang="en-US" sz="1050" dirty="0"/>
          </a:p>
        </p:txBody>
      </p:sp>
      <p:sp>
        <p:nvSpPr>
          <p:cNvPr id="49" name="Shape 38"/>
          <p:cNvSpPr/>
          <p:nvPr/>
        </p:nvSpPr>
        <p:spPr>
          <a:xfrm>
            <a:off x="6217920" y="4828032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419088" y="5047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592A"/>
          </a:solidFill>
          <a:ln/>
        </p:spPr>
      </p:sp>
      <p:pic>
        <p:nvPicPr>
          <p:cNvPr id="51" name="Image 9" descr="/home/z/my-project/assets/deck_v2/fa_FaGamepa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3388" y="5161788"/>
            <a:ext cx="228600" cy="22860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04304" y="501091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 les quiz deviennent des jeux</a:t>
            </a:r>
            <a:endParaRPr lang="en-US" sz="1400" dirty="0"/>
          </a:p>
        </p:txBody>
      </p:sp>
      <p:sp>
        <p:nvSpPr>
          <p:cNvPr id="53" name="Text 41"/>
          <p:cNvSpPr txBox="1"/>
          <p:nvPr/>
        </p:nvSpPr>
        <p:spPr>
          <a:xfrm>
            <a:off x="7004304" y="5340096"/>
            <a:ext cx="452628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Points, badges et défis entre classes, aux formats BEPC et baccalauréat : la répétition qui ancre les notions devient un plaisir.</a:t>
            </a:r>
            <a:endParaRPr lang="en-US" sz="1050" dirty="0"/>
          </a:p>
        </p:txBody>
      </p:sp>
      <p:sp>
        <p:nvSpPr>
          <p:cNvPr id="54" name="Text 42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ÇA VA MARCHER · LES PREUVES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effets mesurés, un avantage économique décisif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6035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Taille d'effet (Hedges g) des laboratoires virtuels sur les apprentissages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66544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175504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Méta-analyse Li et Liang (2024), PLOS ONE : g = 0,686. En clair : un élève soutenu par des TP virtuels progresse mieux qu'environ 75 % des élèves enseignés sans.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903720" y="1719072"/>
            <a:ext cx="4828032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50024" y="1773936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89 %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8293608" y="1773936"/>
            <a:ext cx="3273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élèves montrent des gains de connaissances mesurables avec les laboratoires virtuels (Labster).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903720" y="2688336"/>
            <a:ext cx="4828032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050024" y="2743200"/>
            <a:ext cx="1188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Science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293608" y="2743200"/>
            <a:ext cx="32735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Jong, Linn et Zacharia (2013) : combiné virtuel + réel, les meilleurs apprentissages.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903720" y="3767328"/>
            <a:ext cx="4828032" cy="2340864"/>
          </a:xfrm>
          <a:prstGeom prst="roundRect">
            <a:avLst>
              <a:gd name="adj" fmla="val 3906"/>
            </a:avLst>
          </a:prstGeom>
          <a:solidFill>
            <a:srgbClr val="0A5C5B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123176" y="3895344"/>
            <a:ext cx="4389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F8E4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qu'on gagne en choisissant le virtuel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123176" y="4279392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Laboratoires physiques · 800 établissements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9720072" y="4279392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12 milliards FCFA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7123176" y="4517136"/>
            <a:ext cx="4389120" cy="155448"/>
          </a:xfrm>
          <a:prstGeom prst="roundRect">
            <a:avLst>
              <a:gd name="adj" fmla="val 50000"/>
            </a:avLst>
          </a:prstGeom>
          <a:solidFill>
            <a:srgbClr val="E0592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123176" y="4791456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VirtuLab · mêmes 800 établissements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9720072" y="4791456"/>
            <a:ext cx="17922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297 M FCFA sur 3 ans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7123176" y="5029200"/>
            <a:ext cx="128016" cy="155448"/>
          </a:xfrm>
          <a:prstGeom prst="roundRect">
            <a:avLst>
              <a:gd name="adj" fmla="val 60714"/>
            </a:avLst>
          </a:prstGeom>
          <a:solidFill>
            <a:srgbClr val="DCEBE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123176" y="528523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E4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40 × moins cher</a:t>
            </a:r>
            <a:endParaRPr lang="en-US" sz="2200" dirty="0"/>
          </a:p>
        </p:txBody>
      </p:sp>
      <p:sp>
        <p:nvSpPr>
          <p:cNvPr id="25" name="Text 21"/>
          <p:cNvSpPr txBox="1"/>
          <p:nvPr/>
        </p:nvSpPr>
        <p:spPr>
          <a:xfrm>
            <a:off x="7123176" y="57790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 il fonctionne là où le courant et le réseau manquent.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903720" y="6199632"/>
            <a:ext cx="4828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Preuve issue surtout du supérieur : le pilote togolais sera évalué localement avec groupes témoins.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Li et Liang (2024), PLOS ONE ; Labster, Evidence Guide ; de Jong, Linn et Zacharia (2013), Science. Coûts : estimation prudente de l'équipe.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DÉMONSTRATION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tableau de bord web, avec un TP en situation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02336" y="1719072"/>
            <a:ext cx="11356848" cy="4637865"/>
          </a:xfrm>
          <a:prstGeom prst="roundRect">
            <a:avLst>
              <a:gd name="adj" fmla="val 1577"/>
            </a:avLst>
          </a:prstGeom>
          <a:solidFill>
            <a:srgbClr val="FFFFFF"/>
          </a:solidFill>
          <a:ln w="12700">
            <a:solidFill>
              <a:srgbClr val="EDE8DA"/>
            </a:solidFill>
            <a:prstDash val="solid"/>
          </a:ln>
        </p:spPr>
      </p:sp>
      <p:pic>
        <p:nvPicPr>
          <p:cNvPr id="8" name="Image 1" descr="/home/z/my-project/assets/deck_v2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3936"/>
            <a:ext cx="11247120" cy="45281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6430089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Maquette du tableau de bord web · TP « Dosage acide-base » en 3e · simulation libre, protocole guidé et quiz-jeu aligné BEPC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HourglassHal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MAINTENANT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fenêtre 2026-2027 est ouverte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2529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réforme est officielle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122529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TP sont exigés au collège et au lycée ; les épreuves de BEPC et de bac en traduisent déjà l'exigence.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7920" y="181051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37376" y="204825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37376" y="20482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986016" y="202996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bailleurs sont mobilisés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6986016" y="252374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Programme d'appui documenté avec le GPE depuis 2025 ; l'initiative Giga (UNICEF-UIT) connecte les écoles africaines.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665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22529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précédents existent</a:t>
            </a:r>
            <a:endParaRPr lang="en-US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122529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Rwanda : 200 contenus numériques avec le GPE ; PraxiLabs 2e au GR4TE 2026 ; PhET prouve le modèle gratuit depuis 2002.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217920" y="3730752"/>
            <a:ext cx="5486400" cy="1700784"/>
          </a:xfrm>
          <a:prstGeom prst="roundRect">
            <a:avLst>
              <a:gd name="adj" fmla="val 5376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37376" y="3968496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37376" y="39684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986016" y="395020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place est encore libre</a:t>
            </a:r>
            <a:endParaRPr lang="en-US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6986016" y="4443984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Aucune plateforme n'aligne le programme togolais TP par TP. Ce sera une équipe togolaise, ou quelqu'un d'autre, sans le Togo.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5724144"/>
            <a:ext cx="11247120" cy="530352"/>
          </a:xfrm>
          <a:prstGeom prst="roundRect">
            <a:avLst>
              <a:gd name="adj" fmla="val 15517"/>
            </a:avLst>
          </a:prstGeom>
          <a:solidFill>
            <a:srgbClr val="F8E4D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5724144"/>
            <a:ext cx="10698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B843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Chaque année de retard prive des centaines de milliers d'élèves d'une partie de leur formation scientifique.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 : Global Partnership for Education (2024-2025) ; CIO Mag (2025), initiative Giga ; HundrED (2024).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DÉPLOIEMENT EN TROIS ANS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Chaque phase est conditionnée par la preuve de la précédente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Établissements couverts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949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1 : pilote  ·  An 2 : extension régionale  ·  An 3 : déploiement national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263640" y="1755648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63640" y="1755648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501384" y="1865376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1 · Pilote et preuve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6501384" y="2212848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simulateurs · 40 établissements volontaires (Maritime, Plateaux, Kara) · 200 enseignants formés · convention-cadre et comité scientifique.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63640" y="3236976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3236976"/>
            <a:ext cx="82296" cy="135331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501384" y="3346704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2 · Extension régionale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501384" y="3694176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 simulateurs au total · 300 établissements via les directions régionales · 2 000 enseignants formés · intégration à l'ENT et référentiel arrêté.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63640" y="4718304"/>
            <a:ext cx="5440680" cy="1353312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63640" y="4718304"/>
            <a:ext cx="82296" cy="1353312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501384" y="4828032"/>
            <a:ext cx="4983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3 · Déploiement national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5175504"/>
            <a:ext cx="49651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120 simulateurs, catalogue complet · 800 établissements et plus · 8 000 enseignants formés · transfert des compétences techniques au ministère.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BUDGET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297 millions de FCFA sur trois ans, un récurrent maîtrisé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57200" y="17190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(millions de FCFA)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048256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53035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programme : 297 M FCFA, soit environ 0,45 million d'euros.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897880" y="175564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135624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A5C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l'argent construit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135624" y="219456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51 % de l'année 1 pour la plateforme et les 20 premiers simulateurs ; plus de la moitié de l'enveloppe triennale va au contenu et à la formation, les deux actifs durables.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897880" y="3218688"/>
            <a:ext cx="5806440" cy="1316736"/>
          </a:xfrm>
          <a:prstGeom prst="roundRect">
            <a:avLst>
              <a:gd name="adj" fmla="val 6944"/>
            </a:avLst>
          </a:prstGeom>
          <a:solidFill>
            <a:srgbClr val="F8E4D9"/>
          </a:solidFill>
          <a:ln w="19050">
            <a:solidFill>
              <a:srgbClr val="E0592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35624" y="332841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43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récurrent, prévu dès maintenant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6135624" y="3657600"/>
            <a:ext cx="53309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Dès la quatrième année, l'État prend en charge hébergement et maintenance pour environ 12 M FCFA par an : environ 2 % de l'équipement physique des seuls 40 établissements du pilote.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97880" y="4681728"/>
            <a:ext cx="5806440" cy="1481328"/>
          </a:xfrm>
          <a:prstGeom prst="roundRect">
            <a:avLst>
              <a:gd name="adj" fmla="val 6173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35624" y="479145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montage multi-bailleurs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6135624" y="5120640"/>
            <a:ext cx="533095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État togolais · Partenariat mondial pour l'éducation (GPE) · agences de coopération (AFD, GIZ, UNICEF) · opérateurs télécoms (tarification zéro du trafic) · universités de Lomé et de Kara (comité scientifique).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Budget prévisionnel de l'équipe · parité de référence : 655,957 FCFA pour un euro.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L'IMPACT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le Togo y gagne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494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600 000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9494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élèves touchés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9494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accès gratuit et complet aux TP, y compris dans les zones sans électricité ni laboratoire : plus aucun élève examiné sur ce qu'il n'a jamais manipulé.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17920" y="182880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828800"/>
            <a:ext cx="82296" cy="1956816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55664" y="199339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8 000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6455664" y="25786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enseignants formés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55664" y="288950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séances prêtes à l'emploi et des démonstrations fiables : moins de temps de préparation, une continuité pédagogique assurée même avec les départs d'enseignants.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494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40 ×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moins cher pour l'État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9494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réforme devient exécutable partout pour 297 M FCFA, au lieu de milliards en laboratoires physiques : l'argent public va à l'usage, pas au bâti.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17920" y="4023360"/>
            <a:ext cx="5486400" cy="1956816"/>
          </a:xfrm>
          <a:prstGeom prst="roundRect">
            <a:avLst>
              <a:gd name="adj" fmla="val 4673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17920" y="4023360"/>
            <a:ext cx="82296" cy="1956816"/>
          </a:xfrm>
          <a:prstGeom prst="rect">
            <a:avLst/>
          </a:prstGeom>
          <a:solidFill>
            <a:srgbClr val="E059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55664" y="418795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059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Inédit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6455664" y="4773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233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piloter sur des données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455664" y="5084064"/>
            <a:ext cx="497433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Statistiques d'usage agrégées et anonymisées : le ministère voit enfin la pratique réelle des TP et pilote sa politique scientifique sur des faits.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6035040"/>
            <a:ext cx="11247120" cy="512064"/>
          </a:xfrm>
          <a:prstGeom prst="roundRect">
            <a:avLst>
              <a:gd name="adj" fmla="val 16071"/>
            </a:avLst>
          </a:prstGeom>
          <a:solidFill>
            <a:srgbClr val="0E7C7B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31520" y="6035040"/>
            <a:ext cx="10698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actif technologique national, réutilisable par d'autres matières : le Togo, référence francophone des TP virtuels.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3" name="Image 0" descr="/home/z/my-project/assets/deck_v2/fa_Fa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" y="461772"/>
            <a:ext cx="192024" cy="1920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32688" y="365760"/>
            <a:ext cx="9601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L'ÉQUIPE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804672"/>
            <a:ext cx="11338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fondateurs, une complémentarité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75488" y="1490472"/>
            <a:ext cx="1417320" cy="41148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7" name="Shape 4"/>
          <p:cNvSpPr/>
          <p:nvPr/>
        </p:nvSpPr>
        <p:spPr>
          <a:xfrm>
            <a:off x="193395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8" name="Image 1" descr="/home/z/my-project/assets/deck/team_djab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2121408"/>
            <a:ext cx="1371600" cy="1371600"/>
          </a:xfrm>
          <a:prstGeom prst="ellipse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1683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DJABON Ounimborbititou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211683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 et simulateurs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225399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de la plateforme, développement HTML5 des simulateurs, packs hors ligne et données d'usage.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643116" y="1828800"/>
            <a:ext cx="416052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DCEBEA"/>
            </a:solidFill>
            <a:prstDash val="solid"/>
          </a:ln>
        </p:spPr>
      </p:sp>
      <p:pic>
        <p:nvPicPr>
          <p:cNvPr id="13" name="Image 2" descr="/home/z/my-project/assets/deck/team_rola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576" y="2121408"/>
            <a:ext cx="1371600" cy="1371600"/>
          </a:xfrm>
          <a:prstGeom prst="ellipse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25996" y="3621024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33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HOUNKPE Mawulikpimi Roland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6825996" y="400507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C7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Pédagogie et partenariats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963156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Cartographie des TP avec les inspecteurs, comité scientifique, formation des enseignants et partenariats.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979676" y="5614416"/>
            <a:ext cx="8229600" cy="566928"/>
          </a:xfrm>
          <a:prstGeom prst="roundRect">
            <a:avLst>
              <a:gd name="adj" fmla="val 14516"/>
            </a:avLst>
          </a:prstGeom>
          <a:solidFill>
            <a:srgbClr val="DCEBEA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979676" y="5614416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C5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Partagé : le pilote des 40 établissements, la mesure d'impact et le plaidoyer de financement.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19088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Ancrage local : Université de Lomé · AIMS Ghana (African Institute for Mathematical Sciences).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11384280" y="641908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7B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5C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assets/deck_v2/water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3291840"/>
            <a:ext cx="4005072" cy="23682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347472" cy="347472"/>
          </a:xfrm>
          <a:prstGeom prst="roundRect">
            <a:avLst>
              <a:gd name="adj" fmla="val 15789"/>
            </a:avLst>
          </a:prstGeom>
          <a:solidFill>
            <a:srgbClr val="0E7C7B"/>
          </a:solidFill>
          <a:ln/>
        </p:spPr>
      </p:sp>
      <p:pic>
        <p:nvPicPr>
          <p:cNvPr id="4" name="Image 1" descr="/home/z/my-project/assets/deck_v2/fa_Fa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534924"/>
            <a:ext cx="192024" cy="19202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932688" y="420624"/>
            <a:ext cx="5486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DCEBE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896112"/>
            <a:ext cx="9144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Notre demande</a:t>
            </a:r>
            <a:endParaRPr lang="en-US" sz="4000" dirty="0"/>
          </a:p>
        </p:txBody>
      </p:sp>
      <p:sp>
        <p:nvSpPr>
          <p:cNvPr id="7" name="Shape 3"/>
          <p:cNvSpPr/>
          <p:nvPr/>
        </p:nvSpPr>
        <p:spPr>
          <a:xfrm>
            <a:off x="960120" y="2011680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60120" y="2011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691640" y="1956816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Votre regard critique et votre appui scientifique</a:t>
            </a:r>
            <a:endParaRPr lang="en-US" sz="1850" dirty="0"/>
          </a:p>
        </p:txBody>
      </p:sp>
      <p:sp>
        <p:nvSpPr>
          <p:cNvPr id="10" name="Text 6"/>
          <p:cNvSpPr txBox="1"/>
          <p:nvPr/>
        </p:nvSpPr>
        <p:spPr>
          <a:xfrm>
            <a:off x="1691640" y="2359152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 le concept, le catalogue et le protocole d'évaluation du pilote, en vue du comité scientifique avec l'Université de Lomé et l'Université de Kara.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3236976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60120" y="323697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691640" y="3182112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mise en relation au ministère</a:t>
            </a:r>
            <a:endParaRPr lang="en-US" sz="1850" dirty="0"/>
          </a:p>
        </p:txBody>
      </p:sp>
      <p:sp>
        <p:nvSpPr>
          <p:cNvPr id="14" name="Text 10"/>
          <p:cNvSpPr txBox="1"/>
          <p:nvPr/>
        </p:nvSpPr>
        <p:spPr>
          <a:xfrm>
            <a:off x="1691640" y="3584448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nous ne demandons pas que vous financiez, mais que vous ouvriez la porte du ministère pour cadrer le catalogue TP par TP avec les inspecteurs.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0120" y="4462272"/>
            <a:ext cx="475488" cy="475488"/>
          </a:xfrm>
          <a:prstGeom prst="ellipse">
            <a:avLst/>
          </a:prstGeom>
          <a:solidFill>
            <a:srgbClr val="E0592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60120" y="44622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1691640" y="4407408"/>
            <a:ext cx="9692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Vos orientations vers les bons guichets</a:t>
            </a:r>
            <a:endParaRPr lang="en-US" sz="1850" dirty="0"/>
          </a:p>
        </p:txBody>
      </p:sp>
      <p:sp>
        <p:nvSpPr>
          <p:cNvPr id="18" name="Text 14"/>
          <p:cNvSpPr txBox="1"/>
          <p:nvPr/>
        </p:nvSpPr>
        <p:spPr>
          <a:xfrm>
            <a:off x="1691640" y="4809744"/>
            <a:ext cx="9509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GPE, AFD, GIZ, UNICEF : aidez-nous à affiner le montage de 297 M FCFA et à saisir la fenêtre 2026-2027 avant quelqu'un d'autre.</a:t>
            </a:r>
            <a:endParaRPr lang="en-US" sz="1200" dirty="0"/>
          </a:p>
        </p:txBody>
      </p:sp>
      <p:pic>
        <p:nvPicPr>
          <p:cNvPr id="19" name="Image 2" descr="/home/z/my-project/assets/deck_v2/fa_FaPhon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6071616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61872" y="603504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+228 92 39 97 21   ·   +228 93 21 72 15</a:t>
            </a:r>
            <a:endParaRPr lang="en-US" sz="1100" dirty="0"/>
          </a:p>
        </p:txBody>
      </p:sp>
      <p:pic>
        <p:nvPicPr>
          <p:cNvPr id="21" name="Image 3" descr="/home/z/my-project/assets/deck_v2/fa_FaEnvelo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6455664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61872" y="6419088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E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djabon@aims.edu.gh   ·   rhounkpe@aims.edu.gh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VirtuLab Togo · Équipe ExamBoost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VirtuLab Togo · Plateforme nationale de travaux pratiques virtuels</dc:title>
  <dc:subject>Présentation de crédibilité scientifique et demande de parrainage</dc:subject>
  <dc:creator>DJABON Ounimborbititou &amp; HOUNKPE Mawulikpimi Roland</dc:creator>
  <cp:lastModifiedBy>DJABON Ounimborbititou &amp; HOUNKPE Mawulikpimi Roland</cp:lastModifiedBy>
  <cp:revision>1</cp:revision>
  <dcterms:created xsi:type="dcterms:W3CDTF">2026-09-01T16:33:32Z</dcterms:created>
  <dcterms:modified xsi:type="dcterms:W3CDTF">2026-09-01T16:33:32Z</dcterms:modified>
</cp:coreProperties>
</file>