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Repères de Cohen</c:v>
                </c:pt>
              </c:strCache>
            </c:strRef>
          </c:tx>
          <c:spPr>
            <a:solidFill>
              <a:srgbClr val="8A959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22333B"/>
                    </a:solidFill>
                    <a:latin typeface="Trebuchet M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Effet faible</c:v>
                  </c:pt>
                  <c:pt idx="1">
                    <c:v>Effet modéré</c:v>
                  </c:pt>
                  <c:pt idx="2">
                    <c:v>Effet fort</c:v>
                  </c:pt>
                  <c:pt idx="3">
                    <c:v>Laboratoires virtuels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</c:v>
                </c:pt>
                <c:pt idx="1">
                  <c:v>0.5</c:v>
                </c:pt>
                <c:pt idx="2">
                  <c:v>0.8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Méta-analyse 2024</c:v>
                </c:pt>
              </c:strCache>
            </c:strRef>
          </c:tx>
          <c:spPr>
            <a:solidFill>
              <a:srgbClr val="0E7C7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22333B"/>
                    </a:solidFill>
                    <a:latin typeface="Trebuchet M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Effet faible</c:v>
                  </c:pt>
                  <c:pt idx="1">
                    <c:v>Effet modéré</c:v>
                  </c:pt>
                  <c:pt idx="2">
                    <c:v>Effet fort</c:v>
                  </c:pt>
                  <c:pt idx="3">
                    <c:v>Laboratoires virtuels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0.686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1" i="0" strike="noStrike" sz="1050" u="none">
                  <a:solidFill>
                    <a:srgbClr val="22333B"/>
                  </a:solidFill>
                  <a:latin typeface="Trebuchet M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2333B"/>
                </a:solidFill>
                <a:latin typeface="Trebuchet M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6350" cap="flat">
              <a:solidFill>
                <a:srgbClr val="EDE8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7B80"/>
                </a:solidFill>
                <a:latin typeface="Trebuchet MS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Pilote</c:v>
                </c:pt>
              </c:strCache>
            </c:strRef>
          </c:tx>
          <c:spPr>
            <a:solidFill>
              <a:srgbClr val="8A959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2333B"/>
                    </a:solidFill>
                    <a:latin typeface="Trebuchet M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 1</c:v>
                  </c:pt>
                  <c:pt idx="1">
                    <c:v>An 2</c:v>
                  </c:pt>
                  <c:pt idx="2">
                    <c:v>An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/>
                </c:pt>
                <c:pt idx="2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Extension</c:v>
                </c:pt>
              </c:strCache>
            </c:strRef>
          </c:tx>
          <c:spPr>
            <a:solidFill>
              <a:srgbClr val="0E7C7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2333B"/>
                    </a:solidFill>
                    <a:latin typeface="Trebuchet M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 1</c:v>
                  </c:pt>
                  <c:pt idx="1">
                    <c:v>An 2</c:v>
                  </c:pt>
                  <c:pt idx="2">
                    <c:v>An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/>
                </c:pt>
                <c:pt idx="1">
                  <c:v>300</c:v>
                </c:pt>
                <c:pt idx="2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National</c:v>
                </c:pt>
              </c:strCache>
            </c:strRef>
          </c:tx>
          <c:spPr>
            <a:solidFill>
              <a:srgbClr val="E0592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2333B"/>
                    </a:solidFill>
                    <a:latin typeface="Trebuchet M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 1</c:v>
                  </c:pt>
                  <c:pt idx="1">
                    <c:v>An 2</c:v>
                  </c:pt>
                  <c:pt idx="2">
                    <c:v>An 3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/>
                </c:pt>
                <c:pt idx="1">
                  <c:v/>
                </c:pt>
                <c:pt idx="2">
                  <c:v>800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200" u="none">
                  <a:solidFill>
                    <a:srgbClr val="22333B"/>
                  </a:solidFill>
                  <a:latin typeface="Trebuchet M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2333B"/>
                </a:solidFill>
                <a:latin typeface="Trebuchet M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8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Budget annuel</c:v>
                </c:pt>
              </c:strCache>
            </c:strRef>
          </c:tx>
          <c:spPr>
            <a:solidFill>
              <a:srgbClr val="0E7C7B"/>
            </a:solidFill>
            <a:effectLst/>
          </c:spPr>
          <c:invertIfNegative val="0"/>
          <c:dLbls>
            <c:numFmt formatCode="0&quot; M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2333B"/>
                    </a:solidFill>
                    <a:latin typeface="Trebuchet M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 1</c:v>
                  </c:pt>
                  <c:pt idx="1">
                    <c:v>An 2</c:v>
                  </c:pt>
                  <c:pt idx="2">
                    <c:v>An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117</c:v>
                </c:pt>
                <c:pt idx="1">
                  <c:v>85</c:v>
                </c:pt>
                <c:pt idx="2">
                  <c:v>95</c:v>
                </c:pt>
              </c:numCache>
            </c:numRef>
          </c:val>
        </c:ser>
        <c:dLbls>
          <c:numFmt formatCode="0&quot; M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22333B"/>
                  </a:solidFill>
                  <a:latin typeface="Trebuchet M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2333B"/>
                </a:solidFill>
                <a:latin typeface="Trebuchet M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5.png"/><Relationship Id="rId7" Type="http://schemas.openxmlformats.org/officeDocument/2006/relationships/image" Target="../media/image-4-5.png"/><Relationship Id="rId8" Type="http://schemas.openxmlformats.org/officeDocument/2006/relationships/image" Target="../media/image-4-5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559552" cy="68580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713232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VirtuLab Togo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664208"/>
            <a:ext cx="470916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50" i="1" dirty="0">
                <a:solidFill>
                  <a:srgbClr val="DCEB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Plateforme nationale de travaux pratiques virtuels</a:t>
            </a:r>
            <a:endParaRPr lang="en-US" sz="17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750" i="1" dirty="0">
                <a:solidFill>
                  <a:srgbClr val="DCEB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pour le collège et le lycée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502920" y="2871216"/>
            <a:ext cx="1444752" cy="896112"/>
          </a:xfrm>
          <a:prstGeom prst="roundRect">
            <a:avLst>
              <a:gd name="adj" fmla="val 9184"/>
            </a:avLst>
          </a:prstGeom>
          <a:solidFill>
            <a:srgbClr val="FFFFFF">
              <a:alpha val="13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2962656"/>
            <a:ext cx="1444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120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539496" y="3383280"/>
            <a:ext cx="137160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SIMULATEURS</a:t>
            </a:r>
            <a:endParaRPr lang="en-US" sz="780" dirty="0"/>
          </a:p>
        </p:txBody>
      </p:sp>
      <p:sp>
        <p:nvSpPr>
          <p:cNvPr id="8" name="Shape 6"/>
          <p:cNvSpPr/>
          <p:nvPr/>
        </p:nvSpPr>
        <p:spPr>
          <a:xfrm>
            <a:off x="2057400" y="2871216"/>
            <a:ext cx="1444752" cy="896112"/>
          </a:xfrm>
          <a:prstGeom prst="roundRect">
            <a:avLst>
              <a:gd name="adj" fmla="val 9184"/>
            </a:avLst>
          </a:prstGeom>
          <a:solidFill>
            <a:srgbClr val="FFFFFF">
              <a:alpha val="13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057400" y="2962656"/>
            <a:ext cx="1444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2093976" y="3383280"/>
            <a:ext cx="137160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MATIÈRES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3611880" y="2871216"/>
            <a:ext cx="1444752" cy="896112"/>
          </a:xfrm>
          <a:prstGeom prst="roundRect">
            <a:avLst>
              <a:gd name="adj" fmla="val 9184"/>
            </a:avLst>
          </a:prstGeom>
          <a:solidFill>
            <a:srgbClr val="FFFFFF">
              <a:alpha val="13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11880" y="2962656"/>
            <a:ext cx="1444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6e · Tle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3648456" y="3383280"/>
            <a:ext cx="137160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COLLÈGE ET LYCÉE</a:t>
            </a:r>
            <a:endParaRPr lang="en-US" sz="78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4133088"/>
            <a:ext cx="48463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Présenté au Dr Pagdame Tiebekabe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791456"/>
            <a:ext cx="4846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Enseignant-chercheur, techno-pédagogue · Université de Kara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5522976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DJABON Ounimborbititou   ·   HOUNKPE Mawulikpimi Roland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5815584"/>
            <a:ext cx="4892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Université de Lomé   ·   AIMS Ghana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6089904"/>
            <a:ext cx="4892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Septembre 2026</a:t>
            </a:r>
            <a:endParaRPr lang="en-US" sz="1000" dirty="0"/>
          </a:p>
        </p:txBody>
      </p:sp>
      <p:pic>
        <p:nvPicPr>
          <p:cNvPr id="19" name="Image 0" descr="/home/z/my-project/assets/deck_v2/cover_t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59552" y="0"/>
            <a:ext cx="6629400" cy="4261104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5559552" y="4261104"/>
            <a:ext cx="6629400" cy="45720"/>
          </a:xfrm>
          <a:prstGeom prst="rect">
            <a:avLst/>
          </a:prstGeom>
          <a:solidFill>
            <a:srgbClr val="F5F2E9"/>
          </a:solidFill>
          <a:ln/>
        </p:spPr>
      </p:sp>
      <p:pic>
        <p:nvPicPr>
          <p:cNvPr id="21" name="Image 1" descr="/home/z/my-project/assets/deck_v2/cover_lab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4306824"/>
            <a:ext cx="6629400" cy="25511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GlobeAfri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CONTEXTE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Une école qui grandit vite, des TP restés au tableau</a:t>
            </a:r>
            <a:endParaRPr lang="en-US" sz="285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1700784"/>
            <a:ext cx="5394960" cy="3621024"/>
          </a:xfrm>
          <a:prstGeom prst="roundRect">
            <a:avLst>
              <a:gd name="adj" fmla="val 2525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13232" y="1865376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Collèges et lycées publics · Togo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79392" y="1865376"/>
            <a:ext cx="1335024" cy="365760"/>
          </a:xfrm>
          <a:prstGeom prst="roundRect">
            <a:avLst>
              <a:gd name="adj" fmla="val 50000"/>
            </a:avLst>
          </a:prstGeom>
          <a:solidFill>
            <a:srgbClr val="F8E4D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279392" y="1865376"/>
            <a:ext cx="1335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43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×3 en 13 ans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713232" y="2560320"/>
            <a:ext cx="777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2011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1645920" y="2560320"/>
            <a:ext cx="953733" cy="658368"/>
          </a:xfrm>
          <a:prstGeom prst="roundRect">
            <a:avLst>
              <a:gd name="adj" fmla="val 9722"/>
            </a:avLst>
          </a:prstGeom>
          <a:solidFill>
            <a:srgbClr val="8A959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636229" y="2560320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6E7B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294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713232" y="3584448"/>
            <a:ext cx="777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2024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645920" y="3584448"/>
            <a:ext cx="2926080" cy="658368"/>
          </a:xfrm>
          <a:prstGeom prst="roundRect">
            <a:avLst>
              <a:gd name="adj" fmla="val 9722"/>
            </a:avLst>
          </a:prstGeom>
          <a:solidFill>
            <a:srgbClr val="0E7C7B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608576" y="3584448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A5C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902</a:t>
            </a:r>
            <a:endParaRPr lang="en-US" sz="2300" dirty="0"/>
          </a:p>
        </p:txBody>
      </p:sp>
      <p:sp>
        <p:nvSpPr>
          <p:cNvPr id="17" name="Shape 14"/>
          <p:cNvSpPr/>
          <p:nvPr/>
        </p:nvSpPr>
        <p:spPr>
          <a:xfrm>
            <a:off x="713232" y="4572000"/>
            <a:ext cx="4882896" cy="566928"/>
          </a:xfrm>
          <a:prstGeom prst="roundRect">
            <a:avLst>
              <a:gd name="adj" fmla="val 12903"/>
            </a:avLst>
          </a:prstGeom>
          <a:solidFill>
            <a:srgbClr val="F8E4D9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59536" y="4572000"/>
            <a:ext cx="45902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B843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608 créés depuis 2011, souvent en zones rurales, sans salle de sciences ni matériel.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089904" y="1700784"/>
            <a:ext cx="5614416" cy="1133856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89904" y="1700784"/>
            <a:ext cx="82296" cy="1133856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327648" y="1810512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915 214</a:t>
            </a:r>
            <a:endParaRPr lang="en-US" sz="2700" dirty="0"/>
          </a:p>
        </p:txBody>
      </p:sp>
      <p:sp>
        <p:nvSpPr>
          <p:cNvPr id="22" name="Text 19"/>
          <p:cNvSpPr txBox="1"/>
          <p:nvPr/>
        </p:nvSpPr>
        <p:spPr>
          <a:xfrm>
            <a:off x="8302752" y="1792224"/>
            <a:ext cx="316382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élèves du secondaire, public et privé, concernés par la réforme des TP.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2523744"/>
            <a:ext cx="31638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Banque mondiale et ISU, 2023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6089904" y="2944368"/>
            <a:ext cx="5614416" cy="1133856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089904" y="2944368"/>
            <a:ext cx="82296" cy="1133856"/>
          </a:xfrm>
          <a:prstGeom prst="rect">
            <a:avLst/>
          </a:prstGeom>
          <a:solidFill>
            <a:srgbClr val="E0592A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327648" y="3054096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E059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90 %</a:t>
            </a:r>
            <a:endParaRPr lang="en-US" sz="2700" dirty="0"/>
          </a:p>
        </p:txBody>
      </p:sp>
      <p:sp>
        <p:nvSpPr>
          <p:cNvPr id="27" name="Text 24"/>
          <p:cNvSpPr txBox="1"/>
          <p:nvPr/>
        </p:nvSpPr>
        <p:spPr>
          <a:xfrm>
            <a:off x="8302752" y="3035808"/>
            <a:ext cx="316382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 écoles du Togo n'ont pas de laboratoire : les TP restent théoriques.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302752" y="3767328"/>
            <a:ext cx="31638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GPE · récit MOBILELABO, 2019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6089904" y="4187952"/>
            <a:ext cx="5614416" cy="1133856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089904" y="4187952"/>
            <a:ext cx="82296" cy="1133856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327648" y="429768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33,9 %</a:t>
            </a:r>
            <a:endParaRPr lang="en-US" sz="2700" dirty="0"/>
          </a:p>
        </p:txBody>
      </p:sp>
      <p:sp>
        <p:nvSpPr>
          <p:cNvPr id="32" name="Text 29"/>
          <p:cNvSpPr txBox="1"/>
          <p:nvPr/>
        </p:nvSpPr>
        <p:spPr>
          <a:xfrm>
            <a:off x="8302752" y="4279392"/>
            <a:ext cx="316382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d'électrification en zones rurales : un laboratoire ne s'allume pas.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8302752" y="5010912"/>
            <a:ext cx="31638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Banque mondiale, 2024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457200" y="5614416"/>
            <a:ext cx="11247120" cy="658368"/>
          </a:xfrm>
          <a:prstGeom prst="roundRect">
            <a:avLst>
              <a:gd name="adj" fmla="val 12500"/>
            </a:avLst>
          </a:prstGeom>
          <a:solidFill>
            <a:srgbClr val="0A5C5B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31520" y="5614416"/>
            <a:ext cx="10698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BEPC et le baccalauréat interrogent chaque année des manipulations que la majorité des élèves n'a jamais pratiquées.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457200" y="6419088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Sources : ministère de l'Éducation nationale, Togo (2024) ; Banque mondiale et Institut de statistique de l'UNESCO (2023) ; GPE, récit MOBILELABO (2019).</a:t>
            </a:r>
            <a:endParaRPr lang="en-US" sz="900" dirty="0"/>
          </a:p>
        </p:txBody>
      </p:sp>
      <p:sp>
        <p:nvSpPr>
          <p:cNvPr id="37" name="Text 34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MapMarkerA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PROBLÈME EN CHIFFRES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Équiper physiquement le pays : au moins 2,4 milliards FCFA</a:t>
            </a:r>
            <a:endParaRPr lang="en-US" sz="255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1773936"/>
            <a:ext cx="5074920" cy="37490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760720" y="1773936"/>
            <a:ext cx="5971032" cy="37490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76656" y="1901952"/>
            <a:ext cx="4636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 que coûte un laboratoire, en vrai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76656" y="2286000"/>
            <a:ext cx="148132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B843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M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1938528" y="2340864"/>
            <a:ext cx="5669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FCFA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502152" y="23682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F8E4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02152" y="2368296"/>
            <a:ext cx="18105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B843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STANDARD COMPLET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76656" y="2798064"/>
            <a:ext cx="4636008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Rénovation et équipement complets du laboratoire du lycée de Tsévié 1 : paillasses, eau, verrerie, électricité.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676656" y="3328416"/>
            <a:ext cx="46360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 réel constaté au Togo · UNICEF, janvier 2025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676656" y="3602736"/>
            <a:ext cx="4636008" cy="12802"/>
          </a:xfrm>
          <a:prstGeom prst="rect">
            <a:avLst/>
          </a:prstGeom>
          <a:solidFill>
            <a:srgbClr val="EDE8D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76656" y="3712464"/>
            <a:ext cx="148132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3 M</a:t>
            </a:r>
            <a:endParaRPr lang="en-US" sz="2800" dirty="0"/>
          </a:p>
        </p:txBody>
      </p:sp>
      <p:sp>
        <p:nvSpPr>
          <p:cNvPr id="18" name="Text 15"/>
          <p:cNvSpPr txBox="1"/>
          <p:nvPr/>
        </p:nvSpPr>
        <p:spPr>
          <a:xfrm>
            <a:off x="2084832" y="3767328"/>
            <a:ext cx="5669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FCFA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3319272" y="3794760"/>
            <a:ext cx="1993392" cy="329184"/>
          </a:xfrm>
          <a:prstGeom prst="roundRect">
            <a:avLst>
              <a:gd name="adj" fmla="val 50000"/>
            </a:avLst>
          </a:prstGeom>
          <a:solidFill>
            <a:srgbClr val="DCEBEA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3319272" y="3794760"/>
            <a:ext cx="19933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FORMULE MINIMALE « KITS »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676656" y="4224528"/>
            <a:ext cx="4636008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Salle existante : mobilier local ≈ 1 M · kits physique-chimie et verrerie ≈ 1,2 M · SVT (microscopes, modèles) ≈ 0,8 M.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676656" y="4754880"/>
            <a:ext cx="46360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Formule reconstituée d'après les prix du marché togolais (kits MOBILELABO, mobilier local).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676656" y="4974336"/>
            <a:ext cx="463600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i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 l'équipement n'est pas la fin : consommables et remplacement peuvent ajouter jusqu'à 60 % du capital initial (UNESCO).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5980176" y="1901952"/>
            <a:ext cx="5532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43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facture nationale, du minimum au standard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5980176" y="2212848"/>
            <a:ext cx="5532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902 établissements publics × ≈ 90 % sans laboratoire ≈ 810 à équiper.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998464" y="2542032"/>
            <a:ext cx="1207008" cy="822960"/>
          </a:xfrm>
          <a:prstGeom prst="roundRect">
            <a:avLst>
              <a:gd name="adj" fmla="val 8889"/>
            </a:avLst>
          </a:prstGeom>
          <a:solidFill>
            <a:srgbClr val="F8E4D9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5998464" y="2615184"/>
            <a:ext cx="120700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43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810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6035040" y="3035808"/>
            <a:ext cx="1133856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établissements à équiper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7205472" y="2542032"/>
            <a:ext cx="2011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7B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×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7406640" y="2542032"/>
            <a:ext cx="1207008" cy="822960"/>
          </a:xfrm>
          <a:prstGeom prst="roundRect">
            <a:avLst>
              <a:gd name="adj" fmla="val 8889"/>
            </a:avLst>
          </a:prstGeom>
          <a:solidFill>
            <a:srgbClr val="F8E4D9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406640" y="2615184"/>
            <a:ext cx="120700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43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3 M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7434072" y="3035808"/>
            <a:ext cx="11521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FCFA par labo (minimum)</a:t>
            </a:r>
            <a:endParaRPr lang="en-US" sz="800" dirty="0"/>
          </a:p>
        </p:txBody>
      </p:sp>
      <p:sp>
        <p:nvSpPr>
          <p:cNvPr id="33" name="Text 30"/>
          <p:cNvSpPr txBox="1"/>
          <p:nvPr/>
        </p:nvSpPr>
        <p:spPr>
          <a:xfrm>
            <a:off x="8613648" y="2542032"/>
            <a:ext cx="2011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7B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8814816" y="2542032"/>
            <a:ext cx="2679192" cy="822960"/>
          </a:xfrm>
          <a:prstGeom prst="roundRect">
            <a:avLst>
              <a:gd name="adj" fmla="val 8889"/>
            </a:avLst>
          </a:prstGeom>
          <a:solidFill>
            <a:srgbClr val="E0592A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8814816" y="2615184"/>
            <a:ext cx="26791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2,4 milliards</a:t>
            </a:r>
            <a:endParaRPr lang="en-US" sz="1900" dirty="0"/>
          </a:p>
        </p:txBody>
      </p:sp>
      <p:sp>
        <p:nvSpPr>
          <p:cNvPr id="36" name="Text 33"/>
          <p:cNvSpPr txBox="1"/>
          <p:nvPr/>
        </p:nvSpPr>
        <p:spPr>
          <a:xfrm>
            <a:off x="8814816" y="3035808"/>
            <a:ext cx="2679192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FCFA · minimum national</a:t>
            </a:r>
            <a:endParaRPr lang="en-US" sz="850" dirty="0"/>
          </a:p>
        </p:txBody>
      </p:sp>
      <p:sp>
        <p:nvSpPr>
          <p:cNvPr id="37" name="Text 34"/>
          <p:cNvSpPr txBox="1"/>
          <p:nvPr/>
        </p:nvSpPr>
        <p:spPr>
          <a:xfrm>
            <a:off x="5998464" y="3456432"/>
            <a:ext cx="54955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 standard complet (12 M par labo) : </a:t>
            </a:r>
            <a:pPr algn="l" indent="0" marL="0">
              <a:buNone/>
            </a:pPr>
            <a:r>
              <a:rPr lang="en-US" sz="10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810 × 12 M ≈ 9,7 milliards.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5998464" y="3712464"/>
            <a:ext cx="54955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 face : le déploiement VirtuLab sur trois ans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5998464" y="3986784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Standard complet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8046720" y="4027932"/>
            <a:ext cx="2203704" cy="173736"/>
          </a:xfrm>
          <a:prstGeom prst="roundRect">
            <a:avLst>
              <a:gd name="adj" fmla="val 50000"/>
            </a:avLst>
          </a:prstGeom>
          <a:solidFill>
            <a:srgbClr val="EDE8DA"/>
          </a:solidFill>
          <a:ln/>
        </p:spPr>
      </p:sp>
      <p:sp>
        <p:nvSpPr>
          <p:cNvPr id="41" name="Shape 38"/>
          <p:cNvSpPr/>
          <p:nvPr/>
        </p:nvSpPr>
        <p:spPr>
          <a:xfrm>
            <a:off x="8046720" y="4027932"/>
            <a:ext cx="2203704" cy="173736"/>
          </a:xfrm>
          <a:prstGeom prst="roundRect">
            <a:avLst>
              <a:gd name="adj" fmla="val 50000"/>
            </a:avLst>
          </a:prstGeom>
          <a:solidFill>
            <a:srgbClr val="8A959B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10323576" y="3986784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9,7 Md</a:t>
            </a:r>
            <a:endParaRPr lang="en-US" sz="1150" dirty="0"/>
          </a:p>
        </p:txBody>
      </p:sp>
      <p:sp>
        <p:nvSpPr>
          <p:cNvPr id="43" name="Text 40"/>
          <p:cNvSpPr txBox="1"/>
          <p:nvPr/>
        </p:nvSpPr>
        <p:spPr>
          <a:xfrm>
            <a:off x="5998464" y="437083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Minimum « kits »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8046720" y="4411980"/>
            <a:ext cx="2203704" cy="173736"/>
          </a:xfrm>
          <a:prstGeom prst="roundRect">
            <a:avLst>
              <a:gd name="adj" fmla="val 50000"/>
            </a:avLst>
          </a:prstGeom>
          <a:solidFill>
            <a:srgbClr val="EDE8DA"/>
          </a:solidFill>
          <a:ln/>
        </p:spPr>
      </p:sp>
      <p:sp>
        <p:nvSpPr>
          <p:cNvPr id="45" name="Shape 42"/>
          <p:cNvSpPr/>
          <p:nvPr/>
        </p:nvSpPr>
        <p:spPr>
          <a:xfrm>
            <a:off x="8046720" y="4411980"/>
            <a:ext cx="550926" cy="173736"/>
          </a:xfrm>
          <a:prstGeom prst="roundRect">
            <a:avLst>
              <a:gd name="adj" fmla="val 50000"/>
            </a:avLst>
          </a:prstGeom>
          <a:solidFill>
            <a:srgbClr val="E0592A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10323576" y="437083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E059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2,4 Md</a:t>
            </a:r>
            <a:endParaRPr lang="en-US" sz="1150" dirty="0"/>
          </a:p>
        </p:txBody>
      </p:sp>
      <p:sp>
        <p:nvSpPr>
          <p:cNvPr id="47" name="Text 44"/>
          <p:cNvSpPr txBox="1"/>
          <p:nvPr/>
        </p:nvSpPr>
        <p:spPr>
          <a:xfrm>
            <a:off x="5998464" y="475488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VirtuLab · 3 ans</a:t>
            </a:r>
            <a:endParaRPr lang="en-US" sz="950" dirty="0"/>
          </a:p>
        </p:txBody>
      </p:sp>
      <p:sp>
        <p:nvSpPr>
          <p:cNvPr id="48" name="Shape 45"/>
          <p:cNvSpPr/>
          <p:nvPr/>
        </p:nvSpPr>
        <p:spPr>
          <a:xfrm>
            <a:off x="8046720" y="4796028"/>
            <a:ext cx="2203704" cy="173736"/>
          </a:xfrm>
          <a:prstGeom prst="roundRect">
            <a:avLst>
              <a:gd name="adj" fmla="val 50000"/>
            </a:avLst>
          </a:prstGeom>
          <a:solidFill>
            <a:srgbClr val="EDE8DA"/>
          </a:solidFill>
          <a:ln/>
        </p:spPr>
      </p:sp>
      <p:sp>
        <p:nvSpPr>
          <p:cNvPr id="49" name="Shape 46"/>
          <p:cNvSpPr/>
          <p:nvPr/>
        </p:nvSpPr>
        <p:spPr>
          <a:xfrm>
            <a:off x="8046720" y="4796028"/>
            <a:ext cx="109728" cy="173736"/>
          </a:xfrm>
          <a:prstGeom prst="roundRect">
            <a:avLst>
              <a:gd name="adj" fmla="val 79167"/>
            </a:avLst>
          </a:prstGeom>
          <a:solidFill>
            <a:srgbClr val="0E7C7B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10323576" y="475488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297 M</a:t>
            </a:r>
            <a:endParaRPr lang="en-US" sz="1150" dirty="0"/>
          </a:p>
        </p:txBody>
      </p:sp>
      <p:sp>
        <p:nvSpPr>
          <p:cNvPr id="51" name="Shape 48"/>
          <p:cNvSpPr/>
          <p:nvPr/>
        </p:nvSpPr>
        <p:spPr>
          <a:xfrm>
            <a:off x="5998464" y="5157216"/>
            <a:ext cx="5495544" cy="384048"/>
          </a:xfrm>
          <a:prstGeom prst="roundRect">
            <a:avLst>
              <a:gd name="adj" fmla="val 21429"/>
            </a:avLst>
          </a:prstGeom>
          <a:solidFill>
            <a:srgbClr val="DCEBEA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6163056" y="5157216"/>
            <a:ext cx="5166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Équiper physiquement coûte de 8 à 33 fois le budget VirtuLab.</a:t>
            </a:r>
            <a:endParaRPr lang="en-US" sz="1150" dirty="0"/>
          </a:p>
        </p:txBody>
      </p:sp>
      <p:sp>
        <p:nvSpPr>
          <p:cNvPr id="53" name="Shape 50"/>
          <p:cNvSpPr/>
          <p:nvPr/>
        </p:nvSpPr>
        <p:spPr>
          <a:xfrm>
            <a:off x="457200" y="5614416"/>
            <a:ext cx="11247120" cy="658368"/>
          </a:xfrm>
          <a:prstGeom prst="roundRect">
            <a:avLst>
              <a:gd name="adj" fmla="val 12500"/>
            </a:avLst>
          </a:prstGeom>
          <a:solidFill>
            <a:srgbClr val="0A5C5B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731520" y="5614416"/>
            <a:ext cx="10698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Même frugale, la facture dépasse 2,4 milliards : hors salles, hors courant, et deux tiers des zones rurales sans électricité.</a:t>
            </a:r>
            <a:endParaRPr lang="en-US" sz="120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6419088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Sources : UNICEF Togo, rénovation du laboratoire du lycée de Tsévié 1 (2025) ; GPE, récit MOBILELABO (2019) ; MENA Togo (2024) ; UNESCO, Science kits in developing countries.</a:t>
            </a:r>
            <a:endParaRPr lang="en-US" sz="900" dirty="0"/>
          </a:p>
        </p:txBody>
      </p:sp>
      <p:sp>
        <p:nvSpPr>
          <p:cNvPr id="56" name="Text 53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At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SOLUTION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VirtuLab Togo : le laboratoire dans chaque poche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166420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Gratuite, publique et hors ligne : 120 simulateurs alignés sur les programmes officiels, du collège au lycée.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57200" y="2176272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94944" y="2414016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0E7C7B"/>
          </a:solidFill>
          <a:ln/>
        </p:spPr>
      </p:sp>
      <p:pic>
        <p:nvPicPr>
          <p:cNvPr id="10" name="Image 1" descr="/home/z/my-project/assets/deck_v2/fa_FaAto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" y="2564892"/>
            <a:ext cx="283464" cy="28346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14600" y="2432304"/>
            <a:ext cx="131673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 TP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694944" y="3127248"/>
            <a:ext cx="3136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Physique-chimie</a:t>
            </a:r>
            <a:endParaRPr lang="en-US" sz="1650" dirty="0"/>
          </a:p>
        </p:txBody>
      </p:sp>
      <p:sp>
        <p:nvSpPr>
          <p:cNvPr id="13" name="Text 9"/>
          <p:cNvSpPr txBox="1"/>
          <p:nvPr/>
        </p:nvSpPr>
        <p:spPr>
          <a:xfrm>
            <a:off x="694944" y="3529584"/>
            <a:ext cx="31363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Circuits, optique, mécanique, dosage des solutions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274820" y="2176272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12564" y="2414016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E0592A"/>
          </a:solidFill>
          <a:ln/>
        </p:spPr>
      </p:sp>
      <p:pic>
        <p:nvPicPr>
          <p:cNvPr id="16" name="Image 2" descr="/home/z/my-project/assets/deck_v2/fa_FaLea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56489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32220" y="2432304"/>
            <a:ext cx="131673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059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 TP</a:t>
            </a:r>
            <a:endParaRPr lang="en-US" sz="2400" dirty="0"/>
          </a:p>
        </p:txBody>
      </p:sp>
      <p:sp>
        <p:nvSpPr>
          <p:cNvPr id="18" name="Text 13"/>
          <p:cNvSpPr txBox="1"/>
          <p:nvPr/>
        </p:nvSpPr>
        <p:spPr>
          <a:xfrm>
            <a:off x="4512564" y="3127248"/>
            <a:ext cx="3136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SVT</a:t>
            </a:r>
            <a:endParaRPr lang="en-US" sz="1650" dirty="0"/>
          </a:p>
        </p:txBody>
      </p:sp>
      <p:sp>
        <p:nvSpPr>
          <p:cNvPr id="19" name="Text 14"/>
          <p:cNvSpPr txBox="1"/>
          <p:nvPr/>
        </p:nvSpPr>
        <p:spPr>
          <a:xfrm>
            <a:off x="4512564" y="3529584"/>
            <a:ext cx="31363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Cellule, génétique, écosystèmes, nutrition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092440" y="2176272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330184" y="2414016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8A959B"/>
          </a:solidFill>
          <a:ln/>
        </p:spPr>
      </p:sp>
      <p:pic>
        <p:nvPicPr>
          <p:cNvPr id="22" name="Image 3" descr="/home/z/my-project/assets/deck_v2/fa_FaSquareRoot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1060" y="2564892"/>
            <a:ext cx="283464" cy="28346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0149840" y="2432304"/>
            <a:ext cx="131673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 TP</a:t>
            </a:r>
            <a:endParaRPr lang="en-US" sz="2400" dirty="0"/>
          </a:p>
        </p:txBody>
      </p:sp>
      <p:sp>
        <p:nvSpPr>
          <p:cNvPr id="24" name="Text 18"/>
          <p:cNvSpPr txBox="1"/>
          <p:nvPr/>
        </p:nvSpPr>
        <p:spPr>
          <a:xfrm>
            <a:off x="8330184" y="3127248"/>
            <a:ext cx="3136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Mathématiques</a:t>
            </a:r>
            <a:endParaRPr lang="en-US" sz="1650" dirty="0"/>
          </a:p>
        </p:txBody>
      </p:sp>
      <p:sp>
        <p:nvSpPr>
          <p:cNvPr id="25" name="Text 19"/>
          <p:cNvSpPr txBox="1"/>
          <p:nvPr/>
        </p:nvSpPr>
        <p:spPr>
          <a:xfrm>
            <a:off x="8330184" y="3529584"/>
            <a:ext cx="31363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Fonctions, géométrie dynamique, statistiques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457200" y="4498848"/>
            <a:ext cx="11247120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13232" y="4608576"/>
            <a:ext cx="2487168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A5C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la 6e à la terminale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3246120" y="4681728"/>
            <a:ext cx="841248" cy="457200"/>
          </a:xfrm>
          <a:prstGeom prst="roundRect">
            <a:avLst>
              <a:gd name="adj" fmla="val 16000"/>
            </a:avLst>
          </a:prstGeom>
          <a:solidFill>
            <a:srgbClr val="DCEBEA"/>
          </a:solidFill>
          <a:ln/>
        </p:spPr>
      </p:sp>
      <p:sp>
        <p:nvSpPr>
          <p:cNvPr id="29" name="Text 23"/>
          <p:cNvSpPr txBox="1"/>
          <p:nvPr/>
        </p:nvSpPr>
        <p:spPr>
          <a:xfrm>
            <a:off x="3246120" y="4681728"/>
            <a:ext cx="841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6e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4215384" y="4681728"/>
            <a:ext cx="841248" cy="457200"/>
          </a:xfrm>
          <a:prstGeom prst="roundRect">
            <a:avLst>
              <a:gd name="adj" fmla="val 16000"/>
            </a:avLst>
          </a:prstGeom>
          <a:solidFill>
            <a:srgbClr val="DCEBEA"/>
          </a:solidFill>
          <a:ln/>
        </p:spPr>
      </p:sp>
      <p:sp>
        <p:nvSpPr>
          <p:cNvPr id="31" name="Text 25"/>
          <p:cNvSpPr txBox="1"/>
          <p:nvPr/>
        </p:nvSpPr>
        <p:spPr>
          <a:xfrm>
            <a:off x="4215384" y="4681728"/>
            <a:ext cx="841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5e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5184648" y="4681728"/>
            <a:ext cx="841248" cy="457200"/>
          </a:xfrm>
          <a:prstGeom prst="roundRect">
            <a:avLst>
              <a:gd name="adj" fmla="val 16000"/>
            </a:avLst>
          </a:prstGeom>
          <a:solidFill>
            <a:srgbClr val="DCEBEA"/>
          </a:solidFill>
          <a:ln/>
        </p:spPr>
      </p:sp>
      <p:sp>
        <p:nvSpPr>
          <p:cNvPr id="33" name="Text 27"/>
          <p:cNvSpPr txBox="1"/>
          <p:nvPr/>
        </p:nvSpPr>
        <p:spPr>
          <a:xfrm>
            <a:off x="5184648" y="4681728"/>
            <a:ext cx="841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4e</a:t>
            </a:r>
            <a:endParaRPr lang="en-US" sz="1300" dirty="0"/>
          </a:p>
        </p:txBody>
      </p:sp>
      <p:sp>
        <p:nvSpPr>
          <p:cNvPr id="34" name="Shape 28"/>
          <p:cNvSpPr/>
          <p:nvPr/>
        </p:nvSpPr>
        <p:spPr>
          <a:xfrm>
            <a:off x="6153912" y="4681728"/>
            <a:ext cx="841248" cy="457200"/>
          </a:xfrm>
          <a:prstGeom prst="roundRect">
            <a:avLst>
              <a:gd name="adj" fmla="val 16000"/>
            </a:avLst>
          </a:prstGeom>
          <a:solidFill>
            <a:srgbClr val="DCEBEA"/>
          </a:solidFill>
          <a:ln/>
        </p:spPr>
      </p:sp>
      <p:sp>
        <p:nvSpPr>
          <p:cNvPr id="35" name="Text 29"/>
          <p:cNvSpPr txBox="1"/>
          <p:nvPr/>
        </p:nvSpPr>
        <p:spPr>
          <a:xfrm>
            <a:off x="6153912" y="4681728"/>
            <a:ext cx="841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3e</a:t>
            </a:r>
            <a:endParaRPr lang="en-US" sz="1300" dirty="0"/>
          </a:p>
        </p:txBody>
      </p:sp>
      <p:sp>
        <p:nvSpPr>
          <p:cNvPr id="36" name="Shape 30"/>
          <p:cNvSpPr/>
          <p:nvPr/>
        </p:nvSpPr>
        <p:spPr>
          <a:xfrm>
            <a:off x="7123176" y="4681728"/>
            <a:ext cx="841248" cy="457200"/>
          </a:xfrm>
          <a:prstGeom prst="roundRect">
            <a:avLst>
              <a:gd name="adj" fmla="val 16000"/>
            </a:avLst>
          </a:prstGeom>
          <a:solidFill>
            <a:srgbClr val="F8E4D9"/>
          </a:solidFill>
          <a:ln/>
        </p:spPr>
      </p:sp>
      <p:sp>
        <p:nvSpPr>
          <p:cNvPr id="37" name="Text 31"/>
          <p:cNvSpPr txBox="1"/>
          <p:nvPr/>
        </p:nvSpPr>
        <p:spPr>
          <a:xfrm>
            <a:off x="7123176" y="4681728"/>
            <a:ext cx="841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43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2de</a:t>
            </a:r>
            <a:endParaRPr lang="en-US" sz="1300" dirty="0"/>
          </a:p>
        </p:txBody>
      </p:sp>
      <p:sp>
        <p:nvSpPr>
          <p:cNvPr id="38" name="Shape 32"/>
          <p:cNvSpPr/>
          <p:nvPr/>
        </p:nvSpPr>
        <p:spPr>
          <a:xfrm>
            <a:off x="8092440" y="4681728"/>
            <a:ext cx="841248" cy="457200"/>
          </a:xfrm>
          <a:prstGeom prst="roundRect">
            <a:avLst>
              <a:gd name="adj" fmla="val 16000"/>
            </a:avLst>
          </a:prstGeom>
          <a:solidFill>
            <a:srgbClr val="F8E4D9"/>
          </a:solidFill>
          <a:ln/>
        </p:spPr>
      </p:sp>
      <p:sp>
        <p:nvSpPr>
          <p:cNvPr id="39" name="Text 33"/>
          <p:cNvSpPr txBox="1"/>
          <p:nvPr/>
        </p:nvSpPr>
        <p:spPr>
          <a:xfrm>
            <a:off x="8092440" y="4681728"/>
            <a:ext cx="841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43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1re</a:t>
            </a:r>
            <a:endParaRPr lang="en-US" sz="1300" dirty="0"/>
          </a:p>
        </p:txBody>
      </p:sp>
      <p:sp>
        <p:nvSpPr>
          <p:cNvPr id="40" name="Shape 34"/>
          <p:cNvSpPr/>
          <p:nvPr/>
        </p:nvSpPr>
        <p:spPr>
          <a:xfrm>
            <a:off x="9061704" y="4681728"/>
            <a:ext cx="841248" cy="457200"/>
          </a:xfrm>
          <a:prstGeom prst="roundRect">
            <a:avLst>
              <a:gd name="adj" fmla="val 16000"/>
            </a:avLst>
          </a:prstGeom>
          <a:solidFill>
            <a:srgbClr val="F8E4D9"/>
          </a:solidFill>
          <a:ln/>
        </p:spPr>
      </p:sp>
      <p:sp>
        <p:nvSpPr>
          <p:cNvPr id="41" name="Text 35"/>
          <p:cNvSpPr txBox="1"/>
          <p:nvPr/>
        </p:nvSpPr>
        <p:spPr>
          <a:xfrm>
            <a:off x="9061704" y="4681728"/>
            <a:ext cx="841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43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Tle</a:t>
            </a:r>
            <a:endParaRPr lang="en-US" sz="1300" dirty="0"/>
          </a:p>
        </p:txBody>
      </p:sp>
      <p:sp>
        <p:nvSpPr>
          <p:cNvPr id="42" name="Text 36"/>
          <p:cNvSpPr txBox="1"/>
          <p:nvPr/>
        </p:nvSpPr>
        <p:spPr>
          <a:xfrm>
            <a:off x="3246120" y="5193792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0E7C7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COLLÈGE</a:t>
            </a:r>
            <a:endParaRPr lang="en-US" sz="850" dirty="0"/>
          </a:p>
        </p:txBody>
      </p:sp>
      <p:sp>
        <p:nvSpPr>
          <p:cNvPr id="43" name="Text 37"/>
          <p:cNvSpPr txBox="1"/>
          <p:nvPr/>
        </p:nvSpPr>
        <p:spPr>
          <a:xfrm>
            <a:off x="7123176" y="5193792"/>
            <a:ext cx="27797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E059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LYCÉE</a:t>
            </a:r>
            <a:endParaRPr lang="en-US" sz="850" dirty="0"/>
          </a:p>
        </p:txBody>
      </p:sp>
      <p:sp>
        <p:nvSpPr>
          <p:cNvPr id="44" name="Shape 38"/>
          <p:cNvSpPr/>
          <p:nvPr/>
        </p:nvSpPr>
        <p:spPr>
          <a:xfrm>
            <a:off x="457200" y="5797296"/>
            <a:ext cx="26974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pic>
        <p:nvPicPr>
          <p:cNvPr id="45" name="Image 4" descr="/home/z/my-project/assets/deck_v2/fa_FaCheck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5925312"/>
            <a:ext cx="201168" cy="201168"/>
          </a:xfrm>
          <a:prstGeom prst="rect">
            <a:avLst/>
          </a:prstGeom>
        </p:spPr>
      </p:pic>
      <p:sp>
        <p:nvSpPr>
          <p:cNvPr id="46" name="Text 39"/>
          <p:cNvSpPr txBox="1"/>
          <p:nvPr/>
        </p:nvSpPr>
        <p:spPr>
          <a:xfrm>
            <a:off x="896112" y="579729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Gratuit pour tous</a:t>
            </a:r>
            <a:endParaRPr lang="en-US" sz="1150" dirty="0"/>
          </a:p>
        </p:txBody>
      </p:sp>
      <p:sp>
        <p:nvSpPr>
          <p:cNvPr id="47" name="Shape 40"/>
          <p:cNvSpPr/>
          <p:nvPr/>
        </p:nvSpPr>
        <p:spPr>
          <a:xfrm>
            <a:off x="3307080" y="5797296"/>
            <a:ext cx="26974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pic>
        <p:nvPicPr>
          <p:cNvPr id="48" name="Image 5" descr="/home/z/my-project/assets/deck_v2/fa_FaCheckCirc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89960" y="5925312"/>
            <a:ext cx="201168" cy="201168"/>
          </a:xfrm>
          <a:prstGeom prst="rect">
            <a:avLst/>
          </a:prstGeom>
        </p:spPr>
      </p:pic>
      <p:sp>
        <p:nvSpPr>
          <p:cNvPr id="49" name="Text 41"/>
          <p:cNvSpPr txBox="1"/>
          <p:nvPr/>
        </p:nvSpPr>
        <p:spPr>
          <a:xfrm>
            <a:off x="3745992" y="579729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Hors ligne d'abord</a:t>
            </a:r>
            <a:endParaRPr lang="en-US" sz="1150" dirty="0"/>
          </a:p>
        </p:txBody>
      </p:sp>
      <p:sp>
        <p:nvSpPr>
          <p:cNvPr id="50" name="Shape 42"/>
          <p:cNvSpPr/>
          <p:nvPr/>
        </p:nvSpPr>
        <p:spPr>
          <a:xfrm>
            <a:off x="6156960" y="5797296"/>
            <a:ext cx="26974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pic>
        <p:nvPicPr>
          <p:cNvPr id="51" name="Image 6" descr="/home/z/my-project/assets/deck_v2/fa_FaCheckCirc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9840" y="5925312"/>
            <a:ext cx="201168" cy="201168"/>
          </a:xfrm>
          <a:prstGeom prst="rect">
            <a:avLst/>
          </a:prstGeom>
        </p:spPr>
      </p:pic>
      <p:sp>
        <p:nvSpPr>
          <p:cNvPr id="52" name="Text 43"/>
          <p:cNvSpPr txBox="1"/>
          <p:nvPr/>
        </p:nvSpPr>
        <p:spPr>
          <a:xfrm>
            <a:off x="6595872" y="579729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Aligné TP par TP</a:t>
            </a:r>
            <a:endParaRPr lang="en-US" sz="1150" dirty="0"/>
          </a:p>
        </p:txBody>
      </p:sp>
      <p:sp>
        <p:nvSpPr>
          <p:cNvPr id="53" name="Shape 44"/>
          <p:cNvSpPr/>
          <p:nvPr/>
        </p:nvSpPr>
        <p:spPr>
          <a:xfrm>
            <a:off x="9006840" y="5797296"/>
            <a:ext cx="26974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pic>
        <p:nvPicPr>
          <p:cNvPr id="54" name="Image 7" descr="/home/z/my-project/assets/deck_v2/fa_FaCheckCircl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89720" y="5925312"/>
            <a:ext cx="201168" cy="201168"/>
          </a:xfrm>
          <a:prstGeom prst="rect">
            <a:avLst/>
          </a:prstGeom>
        </p:spPr>
      </p:pic>
      <p:sp>
        <p:nvSpPr>
          <p:cNvPr id="55" name="Text 45"/>
          <p:cNvSpPr txBox="1"/>
          <p:nvPr/>
        </p:nvSpPr>
        <p:spPr>
          <a:xfrm>
            <a:off x="9445752" y="579729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 classe et élève</a:t>
            </a:r>
            <a:endParaRPr lang="en-US" sz="1150" dirty="0"/>
          </a:p>
        </p:txBody>
      </p:sp>
      <p:sp>
        <p:nvSpPr>
          <p:cNvPr id="56" name="Text 46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Co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COMMENT ÇA MARCHE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Cinq étapes, du programme officiel à la classe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2103120"/>
            <a:ext cx="2121408" cy="274320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25296" y="2340864"/>
            <a:ext cx="585216" cy="585216"/>
          </a:xfrm>
          <a:prstGeom prst="roundRect">
            <a:avLst>
              <a:gd name="adj" fmla="val 15625"/>
            </a:avLst>
          </a:prstGeom>
          <a:solidFill>
            <a:srgbClr val="0E7C7B"/>
          </a:solidFill>
          <a:ln/>
        </p:spPr>
      </p:sp>
      <p:pic>
        <p:nvPicPr>
          <p:cNvPr id="9" name="Image 1" descr="/home/z/my-project/assets/deck_v2/fa_FaBookOp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487168"/>
            <a:ext cx="292608" cy="29260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3035808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ÉTAPE 1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3273552"/>
            <a:ext cx="21214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Référencer</a:t>
            </a:r>
            <a:endParaRPr lang="en-US" sz="1450" dirty="0"/>
          </a:p>
        </p:txBody>
      </p:sp>
      <p:sp>
        <p:nvSpPr>
          <p:cNvPr id="12" name="Text 8"/>
          <p:cNvSpPr txBox="1"/>
          <p:nvPr/>
        </p:nvSpPr>
        <p:spPr>
          <a:xfrm>
            <a:off x="621792" y="3639312"/>
            <a:ext cx="179222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 TP du programme cartographiés avec les inspecteurs.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640080" y="4334256"/>
            <a:ext cx="1755648" cy="329184"/>
          </a:xfrm>
          <a:prstGeom prst="roundRect">
            <a:avLst>
              <a:gd name="adj" fmla="val 50000"/>
            </a:avLst>
          </a:prstGeom>
          <a:solidFill>
            <a:srgbClr val="DCEBEA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40080" y="4334256"/>
            <a:ext cx="17556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Cartographie des TP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2530602" y="3364992"/>
            <a:ext cx="256032" cy="219456"/>
          </a:xfrm>
          <a:prstGeom prst="chevron">
            <a:avLst/>
          </a:prstGeom>
          <a:solidFill>
            <a:srgbClr val="8A959B"/>
          </a:solidFill>
          <a:ln/>
        </p:spPr>
      </p:sp>
      <p:sp>
        <p:nvSpPr>
          <p:cNvPr id="16" name="Shape 12"/>
          <p:cNvSpPr/>
          <p:nvPr/>
        </p:nvSpPr>
        <p:spPr>
          <a:xfrm>
            <a:off x="2738628" y="2103120"/>
            <a:ext cx="2121408" cy="274320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3506724" y="2340864"/>
            <a:ext cx="585216" cy="585216"/>
          </a:xfrm>
          <a:prstGeom prst="roundRect">
            <a:avLst>
              <a:gd name="adj" fmla="val 15625"/>
            </a:avLst>
          </a:prstGeom>
          <a:solidFill>
            <a:srgbClr val="0E7C7B"/>
          </a:solidFill>
          <a:ln/>
        </p:spPr>
      </p:sp>
      <p:pic>
        <p:nvPicPr>
          <p:cNvPr id="18" name="Image 2" descr="/home/z/my-project/assets/deck_v2/fa_FaPencilRul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3028" y="2487168"/>
            <a:ext cx="292608" cy="29260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2738628" y="3035808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ÉTAPE 2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2738628" y="3273552"/>
            <a:ext cx="21214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Concevoir</a:t>
            </a:r>
            <a:endParaRPr lang="en-US" sz="1450" dirty="0"/>
          </a:p>
        </p:txBody>
      </p:sp>
      <p:sp>
        <p:nvSpPr>
          <p:cNvPr id="21" name="Text 16"/>
          <p:cNvSpPr txBox="1"/>
          <p:nvPr/>
        </p:nvSpPr>
        <p:spPr>
          <a:xfrm>
            <a:off x="2903220" y="3639312"/>
            <a:ext cx="179222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Scénario pédagogique : objectif, pièges, quiz type examen.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2921508" y="4334256"/>
            <a:ext cx="1755648" cy="329184"/>
          </a:xfrm>
          <a:prstGeom prst="roundRect">
            <a:avLst>
              <a:gd name="adj" fmla="val 50000"/>
            </a:avLst>
          </a:prstGeom>
          <a:solidFill>
            <a:srgbClr val="DCEBEA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2921508" y="4334256"/>
            <a:ext cx="17556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Fiches pédagogiques</a:t>
            </a:r>
            <a:endParaRPr lang="en-US" sz="850" dirty="0"/>
          </a:p>
        </p:txBody>
      </p:sp>
      <p:sp>
        <p:nvSpPr>
          <p:cNvPr id="24" name="Shape 19"/>
          <p:cNvSpPr/>
          <p:nvPr/>
        </p:nvSpPr>
        <p:spPr>
          <a:xfrm>
            <a:off x="4812030" y="3364992"/>
            <a:ext cx="256032" cy="219456"/>
          </a:xfrm>
          <a:prstGeom prst="chevron">
            <a:avLst/>
          </a:prstGeom>
          <a:solidFill>
            <a:srgbClr val="8A959B"/>
          </a:solidFill>
          <a:ln/>
        </p:spPr>
      </p:sp>
      <p:sp>
        <p:nvSpPr>
          <p:cNvPr id="25" name="Shape 20"/>
          <p:cNvSpPr/>
          <p:nvPr/>
        </p:nvSpPr>
        <p:spPr>
          <a:xfrm>
            <a:off x="5020056" y="2103120"/>
            <a:ext cx="2121408" cy="274320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5788152" y="2340864"/>
            <a:ext cx="585216" cy="585216"/>
          </a:xfrm>
          <a:prstGeom prst="roundRect">
            <a:avLst>
              <a:gd name="adj" fmla="val 15625"/>
            </a:avLst>
          </a:prstGeom>
          <a:solidFill>
            <a:srgbClr val="0E7C7B"/>
          </a:solidFill>
          <a:ln/>
        </p:spPr>
      </p:sp>
      <p:pic>
        <p:nvPicPr>
          <p:cNvPr id="27" name="Image 3" descr="/home/z/my-project/assets/deck_v2/fa_FaLaptopCod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4456" y="2487168"/>
            <a:ext cx="292608" cy="29260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5020056" y="3035808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ÉTAPE 3</a:t>
            </a:r>
            <a:endParaRPr lang="en-US" sz="900" dirty="0"/>
          </a:p>
        </p:txBody>
      </p:sp>
      <p:sp>
        <p:nvSpPr>
          <p:cNvPr id="29" name="Text 23"/>
          <p:cNvSpPr txBox="1"/>
          <p:nvPr/>
        </p:nvSpPr>
        <p:spPr>
          <a:xfrm>
            <a:off x="5020056" y="3273552"/>
            <a:ext cx="21214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Développer</a:t>
            </a:r>
            <a:endParaRPr lang="en-US" sz="1450" dirty="0"/>
          </a:p>
        </p:txBody>
      </p:sp>
      <p:sp>
        <p:nvSpPr>
          <p:cNvPr id="30" name="Text 24"/>
          <p:cNvSpPr txBox="1"/>
          <p:nvPr/>
        </p:nvSpPr>
        <p:spPr>
          <a:xfrm>
            <a:off x="5184648" y="3639312"/>
            <a:ext cx="179222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HTML5, 1 à 3 Mo par TP, conçu pour tourner hors ligne.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5202936" y="4334256"/>
            <a:ext cx="1755648" cy="329184"/>
          </a:xfrm>
          <a:prstGeom prst="roundRect">
            <a:avLst>
              <a:gd name="adj" fmla="val 50000"/>
            </a:avLst>
          </a:prstGeom>
          <a:solidFill>
            <a:srgbClr val="DCEBEA"/>
          </a:solidFill>
          <a:ln/>
        </p:spPr>
      </p:sp>
      <p:sp>
        <p:nvSpPr>
          <p:cNvPr id="32" name="Text 26"/>
          <p:cNvSpPr txBox="1"/>
          <p:nvPr/>
        </p:nvSpPr>
        <p:spPr>
          <a:xfrm>
            <a:off x="5202936" y="4334256"/>
            <a:ext cx="17556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Simulateurs HTML5</a:t>
            </a:r>
            <a:endParaRPr lang="en-US" sz="850" dirty="0"/>
          </a:p>
        </p:txBody>
      </p:sp>
      <p:sp>
        <p:nvSpPr>
          <p:cNvPr id="33" name="Shape 27"/>
          <p:cNvSpPr/>
          <p:nvPr/>
        </p:nvSpPr>
        <p:spPr>
          <a:xfrm>
            <a:off x="7093458" y="3364992"/>
            <a:ext cx="256032" cy="219456"/>
          </a:xfrm>
          <a:prstGeom prst="chevron">
            <a:avLst/>
          </a:prstGeom>
          <a:solidFill>
            <a:srgbClr val="8A959B"/>
          </a:solidFill>
          <a:ln/>
        </p:spPr>
      </p:sp>
      <p:sp>
        <p:nvSpPr>
          <p:cNvPr id="34" name="Shape 28"/>
          <p:cNvSpPr/>
          <p:nvPr/>
        </p:nvSpPr>
        <p:spPr>
          <a:xfrm>
            <a:off x="7301484" y="2103120"/>
            <a:ext cx="2121408" cy="274320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8069580" y="2340864"/>
            <a:ext cx="585216" cy="585216"/>
          </a:xfrm>
          <a:prstGeom prst="roundRect">
            <a:avLst>
              <a:gd name="adj" fmla="val 15625"/>
            </a:avLst>
          </a:prstGeom>
          <a:solidFill>
            <a:srgbClr val="0E7C7B"/>
          </a:solidFill>
          <a:ln/>
        </p:spPr>
      </p:sp>
      <p:pic>
        <p:nvPicPr>
          <p:cNvPr id="36" name="Image 4" descr="/home/z/my-project/assets/deck_v2/fa_FaCheckDoub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5884" y="2487168"/>
            <a:ext cx="292608" cy="29260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7301484" y="3035808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ÉTAPE 4</a:t>
            </a:r>
            <a:endParaRPr lang="en-US" sz="900" dirty="0"/>
          </a:p>
        </p:txBody>
      </p:sp>
      <p:sp>
        <p:nvSpPr>
          <p:cNvPr id="38" name="Text 31"/>
          <p:cNvSpPr txBox="1"/>
          <p:nvPr/>
        </p:nvSpPr>
        <p:spPr>
          <a:xfrm>
            <a:off x="7301484" y="3273552"/>
            <a:ext cx="21214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Valider</a:t>
            </a:r>
            <a:endParaRPr lang="en-US" sz="1450" dirty="0"/>
          </a:p>
        </p:txBody>
      </p:sp>
      <p:sp>
        <p:nvSpPr>
          <p:cNvPr id="39" name="Text 32"/>
          <p:cNvSpPr txBox="1"/>
          <p:nvPr/>
        </p:nvSpPr>
        <p:spPr>
          <a:xfrm>
            <a:off x="7466076" y="3639312"/>
            <a:ext cx="179222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Double revue : comité scientifique et inspecteurs.</a:t>
            </a:r>
            <a:endParaRPr lang="en-US" sz="1050" dirty="0"/>
          </a:p>
        </p:txBody>
      </p:sp>
      <p:sp>
        <p:nvSpPr>
          <p:cNvPr id="40" name="Shape 33"/>
          <p:cNvSpPr/>
          <p:nvPr/>
        </p:nvSpPr>
        <p:spPr>
          <a:xfrm>
            <a:off x="7484364" y="4334256"/>
            <a:ext cx="1755648" cy="329184"/>
          </a:xfrm>
          <a:prstGeom prst="roundRect">
            <a:avLst>
              <a:gd name="adj" fmla="val 50000"/>
            </a:avLst>
          </a:prstGeom>
          <a:solidFill>
            <a:srgbClr val="DCEBEA"/>
          </a:solidFill>
          <a:ln/>
        </p:spPr>
      </p:sp>
      <p:sp>
        <p:nvSpPr>
          <p:cNvPr id="41" name="Text 34"/>
          <p:cNvSpPr txBox="1"/>
          <p:nvPr/>
        </p:nvSpPr>
        <p:spPr>
          <a:xfrm>
            <a:off x="7484364" y="4334256"/>
            <a:ext cx="17556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Catalogue validé</a:t>
            </a:r>
            <a:endParaRPr lang="en-US" sz="850" dirty="0"/>
          </a:p>
        </p:txBody>
      </p:sp>
      <p:sp>
        <p:nvSpPr>
          <p:cNvPr id="42" name="Shape 35"/>
          <p:cNvSpPr/>
          <p:nvPr/>
        </p:nvSpPr>
        <p:spPr>
          <a:xfrm>
            <a:off x="9374886" y="3364992"/>
            <a:ext cx="256032" cy="219456"/>
          </a:xfrm>
          <a:prstGeom prst="chevron">
            <a:avLst/>
          </a:prstGeom>
          <a:solidFill>
            <a:srgbClr val="8A959B"/>
          </a:solidFill>
          <a:ln/>
        </p:spPr>
      </p:sp>
      <p:sp>
        <p:nvSpPr>
          <p:cNvPr id="43" name="Shape 36"/>
          <p:cNvSpPr/>
          <p:nvPr/>
        </p:nvSpPr>
        <p:spPr>
          <a:xfrm>
            <a:off x="9582912" y="2103120"/>
            <a:ext cx="2121408" cy="274320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44" name="Shape 37"/>
          <p:cNvSpPr/>
          <p:nvPr/>
        </p:nvSpPr>
        <p:spPr>
          <a:xfrm>
            <a:off x="10351008" y="2340864"/>
            <a:ext cx="585216" cy="585216"/>
          </a:xfrm>
          <a:prstGeom prst="roundRect">
            <a:avLst>
              <a:gd name="adj" fmla="val 15625"/>
            </a:avLst>
          </a:prstGeom>
          <a:solidFill>
            <a:srgbClr val="E0592A"/>
          </a:solidFill>
          <a:ln/>
        </p:spPr>
      </p:sp>
      <p:pic>
        <p:nvPicPr>
          <p:cNvPr id="45" name="Image 5" descr="/home/z/my-project/assets/deck_v2/fa_FaChartLin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97312" y="2487168"/>
            <a:ext cx="292608" cy="292608"/>
          </a:xfrm>
          <a:prstGeom prst="rect">
            <a:avLst/>
          </a:prstGeom>
        </p:spPr>
      </p:pic>
      <p:sp>
        <p:nvSpPr>
          <p:cNvPr id="46" name="Text 38"/>
          <p:cNvSpPr txBox="1"/>
          <p:nvPr/>
        </p:nvSpPr>
        <p:spPr>
          <a:xfrm>
            <a:off x="9582912" y="3035808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ÉTAPE 5</a:t>
            </a:r>
            <a:endParaRPr lang="en-US" sz="900" dirty="0"/>
          </a:p>
        </p:txBody>
      </p:sp>
      <p:sp>
        <p:nvSpPr>
          <p:cNvPr id="47" name="Text 39"/>
          <p:cNvSpPr txBox="1"/>
          <p:nvPr/>
        </p:nvSpPr>
        <p:spPr>
          <a:xfrm>
            <a:off x="9582912" y="3273552"/>
            <a:ext cx="21214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Déployer</a:t>
            </a:r>
            <a:endParaRPr lang="en-US" sz="1450" dirty="0"/>
          </a:p>
        </p:txBody>
      </p:sp>
      <p:sp>
        <p:nvSpPr>
          <p:cNvPr id="48" name="Text 40"/>
          <p:cNvSpPr txBox="1"/>
          <p:nvPr/>
        </p:nvSpPr>
        <p:spPr>
          <a:xfrm>
            <a:off x="9747504" y="3639312"/>
            <a:ext cx="179222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Usage mesuré en classe, catalogue recalibré.</a:t>
            </a:r>
            <a:endParaRPr lang="en-US" sz="1050" dirty="0"/>
          </a:p>
        </p:txBody>
      </p:sp>
      <p:sp>
        <p:nvSpPr>
          <p:cNvPr id="49" name="Shape 41"/>
          <p:cNvSpPr/>
          <p:nvPr/>
        </p:nvSpPr>
        <p:spPr>
          <a:xfrm>
            <a:off x="9765792" y="4334256"/>
            <a:ext cx="1755648" cy="329184"/>
          </a:xfrm>
          <a:prstGeom prst="roundRect">
            <a:avLst>
              <a:gd name="adj" fmla="val 50000"/>
            </a:avLst>
          </a:prstGeom>
          <a:solidFill>
            <a:srgbClr val="F8E4D9"/>
          </a:solidFill>
          <a:ln/>
        </p:spPr>
      </p:sp>
      <p:sp>
        <p:nvSpPr>
          <p:cNvPr id="50" name="Text 42"/>
          <p:cNvSpPr txBox="1"/>
          <p:nvPr/>
        </p:nvSpPr>
        <p:spPr>
          <a:xfrm>
            <a:off x="9765792" y="4334256"/>
            <a:ext cx="17556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843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Rapport d'usage</a:t>
            </a:r>
            <a:endParaRPr lang="en-US" sz="850" dirty="0"/>
          </a:p>
        </p:txBody>
      </p:sp>
      <p:sp>
        <p:nvSpPr>
          <p:cNvPr id="51" name="Text 43"/>
          <p:cNvSpPr txBox="1"/>
          <p:nvPr/>
        </p:nvSpPr>
        <p:spPr>
          <a:xfrm>
            <a:off x="457200" y="495604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Boucle de recalibrage : les données d'usage indiquent quels contenus manquent et quoi développer ensuite.</a:t>
            </a:r>
            <a:endParaRPr lang="en-US" sz="1050" dirty="0"/>
          </a:p>
        </p:txBody>
      </p:sp>
      <p:sp>
        <p:nvSpPr>
          <p:cNvPr id="52" name="Shape 44"/>
          <p:cNvSpPr/>
          <p:nvPr/>
        </p:nvSpPr>
        <p:spPr>
          <a:xfrm>
            <a:off x="457200" y="5632704"/>
            <a:ext cx="11247120" cy="548640"/>
          </a:xfrm>
          <a:prstGeom prst="roundRect">
            <a:avLst>
              <a:gd name="adj" fmla="val 15000"/>
            </a:avLst>
          </a:prstGeom>
          <a:solidFill>
            <a:srgbClr val="0E7C7B"/>
          </a:solidFill>
          <a:ln/>
        </p:spPr>
      </p:sp>
      <p:sp>
        <p:nvSpPr>
          <p:cNvPr id="53" name="Text 45"/>
          <p:cNvSpPr txBox="1"/>
          <p:nvPr/>
        </p:nvSpPr>
        <p:spPr>
          <a:xfrm>
            <a:off x="731520" y="5632704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Chaque simulateur arrive avec sa fiche pédagogique, son protocole de séance prêt à l'emploi et son quiz-jeu d'évaluation.</a:t>
            </a:r>
            <a:endParaRPr lang="en-US" sz="1200" dirty="0"/>
          </a:p>
        </p:txBody>
      </p:sp>
      <p:sp>
        <p:nvSpPr>
          <p:cNvPr id="54" name="Text 46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Layer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SOCLE TECHNIQUE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Une architecture qui fonctionne sans réseau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1847088"/>
            <a:ext cx="2487168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463040" y="201168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0E7C7B"/>
          </a:solidFill>
          <a:ln/>
        </p:spPr>
      </p:sp>
      <p:pic>
        <p:nvPicPr>
          <p:cNvPr id="9" name="Image 1" descr="/home/z/my-project/assets/deck_v2/fa_FaBookOp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912" y="2130552"/>
            <a:ext cx="237744" cy="23774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12064" y="254203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PROGRAMME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03504" y="2816352"/>
            <a:ext cx="21945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Fiche, protocole et quiz-jeu pour chaque séance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3041904" y="2560320"/>
            <a:ext cx="237744" cy="201168"/>
          </a:xfrm>
          <a:prstGeom prst="chevron">
            <a:avLst/>
          </a:prstGeom>
          <a:solidFill>
            <a:srgbClr val="0E7C7B"/>
          </a:solidFill>
          <a:ln/>
        </p:spPr>
      </p:sp>
      <p:sp>
        <p:nvSpPr>
          <p:cNvPr id="13" name="Shape 9"/>
          <p:cNvSpPr/>
          <p:nvPr/>
        </p:nvSpPr>
        <p:spPr>
          <a:xfrm>
            <a:off x="3377184" y="1847088"/>
            <a:ext cx="2487168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383024" y="201168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0E7C7B"/>
          </a:solidFill>
          <a:ln/>
        </p:spPr>
      </p:sp>
      <p:pic>
        <p:nvPicPr>
          <p:cNvPr id="15" name="Image 2" descr="/home/z/my-project/assets/deck_v2/fa_FaLaptopCo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1896" y="2130552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432048" y="254203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SIMULATEURS HTML5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3523488" y="2816352"/>
            <a:ext cx="21945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à 3 Mo par TP, fluides sur PC et smartphone</a:t>
            </a:r>
            <a:endParaRPr lang="en-US" sz="950" dirty="0"/>
          </a:p>
        </p:txBody>
      </p:sp>
      <p:sp>
        <p:nvSpPr>
          <p:cNvPr id="18" name="Shape 13"/>
          <p:cNvSpPr/>
          <p:nvPr/>
        </p:nvSpPr>
        <p:spPr>
          <a:xfrm>
            <a:off x="5961888" y="2560320"/>
            <a:ext cx="237744" cy="201168"/>
          </a:xfrm>
          <a:prstGeom prst="chevron">
            <a:avLst/>
          </a:prstGeom>
          <a:solidFill>
            <a:srgbClr val="0E7C7B"/>
          </a:solidFill>
          <a:ln/>
        </p:spPr>
      </p:sp>
      <p:sp>
        <p:nvSpPr>
          <p:cNvPr id="19" name="Shape 14"/>
          <p:cNvSpPr/>
          <p:nvPr/>
        </p:nvSpPr>
        <p:spPr>
          <a:xfrm>
            <a:off x="6297168" y="1847088"/>
            <a:ext cx="2487168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303008" y="201168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E0592A"/>
          </a:solidFill>
          <a:ln/>
        </p:spPr>
      </p:sp>
      <p:pic>
        <p:nvPicPr>
          <p:cNvPr id="21" name="Image 3" descr="/home/z/my-project/assets/deck_v2/md_MdWifiO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1880" y="2130552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352032" y="254203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 WEB PROGRESSIVE</a:t>
            </a:r>
            <a:endParaRPr lang="en-US" sz="1050" dirty="0"/>
          </a:p>
        </p:txBody>
      </p:sp>
      <p:sp>
        <p:nvSpPr>
          <p:cNvPr id="23" name="Text 17"/>
          <p:cNvSpPr txBox="1"/>
          <p:nvPr/>
        </p:nvSpPr>
        <p:spPr>
          <a:xfrm>
            <a:off x="6443472" y="2816352"/>
            <a:ext cx="21945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Catalogue entier en cache local, sync différée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8881872" y="2560320"/>
            <a:ext cx="237744" cy="201168"/>
          </a:xfrm>
          <a:prstGeom prst="chevron">
            <a:avLst/>
          </a:prstGeom>
          <a:solidFill>
            <a:srgbClr val="0E7C7B"/>
          </a:solidFill>
          <a:ln/>
        </p:spPr>
      </p:sp>
      <p:sp>
        <p:nvSpPr>
          <p:cNvPr id="25" name="Shape 19"/>
          <p:cNvSpPr/>
          <p:nvPr/>
        </p:nvSpPr>
        <p:spPr>
          <a:xfrm>
            <a:off x="9217152" y="1847088"/>
            <a:ext cx="2487168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10222992" y="201168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0E7C7B"/>
          </a:solidFill>
          <a:ln/>
        </p:spPr>
      </p:sp>
      <p:pic>
        <p:nvPicPr>
          <p:cNvPr id="27" name="Image 4" descr="/home/z/my-project/assets/deck_v2/fa_FaChalkboardTeach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41864" y="2130552"/>
            <a:ext cx="237744" cy="23774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9272016" y="254203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CLASSE ET MAISON</a:t>
            </a:r>
            <a:endParaRPr lang="en-US" sz="1050" dirty="0"/>
          </a:p>
        </p:txBody>
      </p:sp>
      <p:sp>
        <p:nvSpPr>
          <p:cNvPr id="29" name="Text 22"/>
          <p:cNvSpPr txBox="1"/>
          <p:nvPr/>
        </p:nvSpPr>
        <p:spPr>
          <a:xfrm>
            <a:off x="9363456" y="2816352"/>
            <a:ext cx="21945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Projeté en classe, rejoué librement à la maison</a:t>
            </a:r>
            <a:endParaRPr lang="en-US" sz="950" dirty="0"/>
          </a:p>
        </p:txBody>
      </p:sp>
      <p:sp>
        <p:nvSpPr>
          <p:cNvPr id="30" name="Shape 23"/>
          <p:cNvSpPr/>
          <p:nvPr/>
        </p:nvSpPr>
        <p:spPr>
          <a:xfrm>
            <a:off x="457200" y="3712464"/>
            <a:ext cx="11247120" cy="859536"/>
          </a:xfrm>
          <a:prstGeom prst="roundRect">
            <a:avLst>
              <a:gd name="adj" fmla="val 9574"/>
            </a:avLst>
          </a:prstGeom>
          <a:solidFill>
            <a:srgbClr val="EDE8DA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694944" y="3785616"/>
            <a:ext cx="2788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spc="15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TROIS CHEMINS</a:t>
            </a:r>
            <a:endParaRPr lang="en-US" sz="9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50" b="1" spc="15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JUSQU'À LA CLASSE</a:t>
            </a:r>
            <a:endParaRPr lang="en-US" sz="950" dirty="0"/>
          </a:p>
        </p:txBody>
      </p:sp>
      <p:sp>
        <p:nvSpPr>
          <p:cNvPr id="32" name="Shape 25"/>
          <p:cNvSpPr/>
          <p:nvPr/>
        </p:nvSpPr>
        <p:spPr>
          <a:xfrm>
            <a:off x="3566160" y="3858768"/>
            <a:ext cx="26060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CEBEA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3657600" y="39867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0E7C7B"/>
          </a:solidFill>
          <a:ln/>
        </p:spPr>
      </p:sp>
      <p:pic>
        <p:nvPicPr>
          <p:cNvPr id="34" name="Image 5" descr="/home/z/my-project/assets/deck_v2/fa_FaClou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6180" y="4055364"/>
            <a:ext cx="173736" cy="173736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4041648" y="3858768"/>
            <a:ext cx="20391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 international + miroir national</a:t>
            </a:r>
            <a:endParaRPr lang="en-US" sz="980" dirty="0"/>
          </a:p>
        </p:txBody>
      </p:sp>
      <p:sp>
        <p:nvSpPr>
          <p:cNvPr id="36" name="Shape 28"/>
          <p:cNvSpPr/>
          <p:nvPr/>
        </p:nvSpPr>
        <p:spPr>
          <a:xfrm>
            <a:off x="6281928" y="3858768"/>
            <a:ext cx="26060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CEBEA"/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6373368" y="39867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0E7C7B"/>
          </a:solidFill>
          <a:ln/>
        </p:spPr>
      </p:sp>
      <p:pic>
        <p:nvPicPr>
          <p:cNvPr id="38" name="Image 6" descr="/home/z/my-project/assets/deck_v2/fa_FaUsb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1948" y="4055364"/>
            <a:ext cx="173736" cy="173736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6757416" y="3858768"/>
            <a:ext cx="20391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 hors ligne : clé USB ou réseau local</a:t>
            </a:r>
            <a:endParaRPr lang="en-US" sz="980" dirty="0"/>
          </a:p>
        </p:txBody>
      </p:sp>
      <p:sp>
        <p:nvSpPr>
          <p:cNvPr id="40" name="Shape 31"/>
          <p:cNvSpPr/>
          <p:nvPr/>
        </p:nvSpPr>
        <p:spPr>
          <a:xfrm>
            <a:off x="8997696" y="3858768"/>
            <a:ext cx="26060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CEBEA"/>
            </a:solidFill>
            <a:prstDash val="solid"/>
          </a:ln>
        </p:spPr>
      </p:sp>
      <p:sp>
        <p:nvSpPr>
          <p:cNvPr id="41" name="Shape 32"/>
          <p:cNvSpPr/>
          <p:nvPr/>
        </p:nvSpPr>
        <p:spPr>
          <a:xfrm>
            <a:off x="9089136" y="39867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0E7C7B"/>
          </a:solidFill>
          <a:ln/>
        </p:spPr>
      </p:sp>
      <p:pic>
        <p:nvPicPr>
          <p:cNvPr id="42" name="Image 7" descr="/home/z/my-project/assets/deck_v2/fa_FaSolarPanel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57716" y="4055364"/>
            <a:ext cx="173736" cy="173736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9473184" y="3858768"/>
            <a:ext cx="20391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Smartphone + kit solaire, même sans électricité</a:t>
            </a:r>
            <a:endParaRPr lang="en-US" sz="980" dirty="0"/>
          </a:p>
        </p:txBody>
      </p:sp>
      <p:sp>
        <p:nvSpPr>
          <p:cNvPr id="44" name="Shape 34"/>
          <p:cNvSpPr/>
          <p:nvPr/>
        </p:nvSpPr>
        <p:spPr>
          <a:xfrm>
            <a:off x="457200" y="4828032"/>
            <a:ext cx="5486400" cy="1371600"/>
          </a:xfrm>
          <a:prstGeom prst="roundRect">
            <a:avLst>
              <a:gd name="adj" fmla="val 6667"/>
            </a:avLst>
          </a:prstGeom>
          <a:solidFill>
            <a:srgbClr val="0A5C5B"/>
          </a:solidFill>
          <a:ln w="15875">
            <a:solidFill>
              <a:srgbClr val="0E7C7B"/>
            </a:solidFill>
            <a:prstDash val="solid"/>
          </a:ln>
        </p:spPr>
      </p:sp>
      <p:sp>
        <p:nvSpPr>
          <p:cNvPr id="45" name="Shape 35"/>
          <p:cNvSpPr/>
          <p:nvPr/>
        </p:nvSpPr>
        <p:spPr>
          <a:xfrm>
            <a:off x="658368" y="50474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7B"/>
          </a:solidFill>
          <a:ln/>
        </p:spPr>
      </p:sp>
      <p:pic>
        <p:nvPicPr>
          <p:cNvPr id="46" name="Image 8" descr="/home/z/my-project/assets/deck_v2/fa_FaSyncAl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2668" y="5161788"/>
            <a:ext cx="228600" cy="228600"/>
          </a:xfrm>
          <a:prstGeom prst="rect">
            <a:avLst/>
          </a:prstGeom>
        </p:spPr>
      </p:pic>
      <p:sp>
        <p:nvSpPr>
          <p:cNvPr id="47" name="Text 36"/>
          <p:cNvSpPr txBox="1"/>
          <p:nvPr/>
        </p:nvSpPr>
        <p:spPr>
          <a:xfrm>
            <a:off x="1243584" y="5010912"/>
            <a:ext cx="4572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boucle de données</a:t>
            </a:r>
            <a:endParaRPr lang="en-US" sz="1400" dirty="0"/>
          </a:p>
        </p:txBody>
      </p:sp>
      <p:sp>
        <p:nvSpPr>
          <p:cNvPr id="48" name="Text 37"/>
          <p:cNvSpPr txBox="1"/>
          <p:nvPr/>
        </p:nvSpPr>
        <p:spPr>
          <a:xfrm>
            <a:off x="1243584" y="5340096"/>
            <a:ext cx="448056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Usage agrégé et anonymisé : un tableau de bord ministériel et un catalogue recalibré en continu.</a:t>
            </a:r>
            <a:endParaRPr lang="en-US" sz="1050" dirty="0"/>
          </a:p>
        </p:txBody>
      </p:sp>
      <p:sp>
        <p:nvSpPr>
          <p:cNvPr id="49" name="Shape 38"/>
          <p:cNvSpPr/>
          <p:nvPr/>
        </p:nvSpPr>
        <p:spPr>
          <a:xfrm>
            <a:off x="6217920" y="4828032"/>
            <a:ext cx="54864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E0592A"/>
            </a:solidFill>
            <a:prstDash val="solid"/>
          </a:ln>
        </p:spPr>
      </p:sp>
      <p:sp>
        <p:nvSpPr>
          <p:cNvPr id="50" name="Shape 39"/>
          <p:cNvSpPr/>
          <p:nvPr/>
        </p:nvSpPr>
        <p:spPr>
          <a:xfrm>
            <a:off x="6419088" y="50474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0592A"/>
          </a:solidFill>
          <a:ln/>
        </p:spPr>
      </p:sp>
      <p:pic>
        <p:nvPicPr>
          <p:cNvPr id="51" name="Image 9" descr="/home/z/my-project/assets/deck_v2/fa_FaGamepa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33388" y="5161788"/>
            <a:ext cx="228600" cy="228600"/>
          </a:xfrm>
          <a:prstGeom prst="rect">
            <a:avLst/>
          </a:prstGeom>
        </p:spPr>
      </p:pic>
      <p:sp>
        <p:nvSpPr>
          <p:cNvPr id="52" name="Text 40"/>
          <p:cNvSpPr txBox="1"/>
          <p:nvPr/>
        </p:nvSpPr>
        <p:spPr>
          <a:xfrm>
            <a:off x="7004304" y="5010912"/>
            <a:ext cx="4572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843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 les quiz deviennent des jeux</a:t>
            </a:r>
            <a:endParaRPr lang="en-US" sz="1400" dirty="0"/>
          </a:p>
        </p:txBody>
      </p:sp>
      <p:sp>
        <p:nvSpPr>
          <p:cNvPr id="53" name="Text 41"/>
          <p:cNvSpPr txBox="1"/>
          <p:nvPr/>
        </p:nvSpPr>
        <p:spPr>
          <a:xfrm>
            <a:off x="7004304" y="5340096"/>
            <a:ext cx="45262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Points, badges et défis entre classes aux formats BEPC et bac : la répétition devient un plaisir.</a:t>
            </a:r>
            <a:endParaRPr lang="en-US" sz="1050" dirty="0"/>
          </a:p>
        </p:txBody>
      </p:sp>
      <p:sp>
        <p:nvSpPr>
          <p:cNvPr id="54" name="Text 42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Fla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POURQUOI ÇA VA MARCHER · LES PREUVES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 effets mesurés, un avantage économique décisif</a:t>
            </a:r>
            <a:endParaRPr lang="en-US" sz="29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1719072"/>
            <a:ext cx="6035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Taille d'effet (Hedges g) des laboratoires virtuels sur les apprentissages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2066544"/>
          <a:ext cx="60350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5175504"/>
            <a:ext cx="60350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Méta-analyse Li et Liang (2024), PLOS ONE : g = 0,686. En clair : un élève soutenu par des TP virtuels progresse mieux qu'environ 75 % des élèves enseignés sans.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6903720" y="1719072"/>
            <a:ext cx="4828032" cy="859536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050024" y="1773936"/>
            <a:ext cx="11887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89 %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8293608" y="1773936"/>
            <a:ext cx="327355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 élèves montrent des gains de connaissances mesurables avec les laboratoires virtuels (Labster).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903720" y="2688336"/>
            <a:ext cx="4828032" cy="859536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050024" y="2743200"/>
            <a:ext cx="11887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Science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8293608" y="2743200"/>
            <a:ext cx="327355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 Jong, Linn et Zacharia (2013) : combiné virtuel + réel, les meilleurs apprentissages.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903720" y="3767328"/>
            <a:ext cx="4828032" cy="2340864"/>
          </a:xfrm>
          <a:prstGeom prst="roundRect">
            <a:avLst>
              <a:gd name="adj" fmla="val 3906"/>
            </a:avLst>
          </a:prstGeom>
          <a:solidFill>
            <a:srgbClr val="0A5C5B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7123176" y="3895344"/>
            <a:ext cx="4389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50" kern="0" dirty="0">
                <a:solidFill>
                  <a:srgbClr val="F8E4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 qu'on gagne en choisissant le virtuel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7123176" y="4261104"/>
            <a:ext cx="2834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Équipement physique · minimum national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9720072" y="4261104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≈ 2,4 milliards FCFA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7123176" y="4498848"/>
            <a:ext cx="4389120" cy="155448"/>
          </a:xfrm>
          <a:prstGeom prst="roundRect">
            <a:avLst>
              <a:gd name="adj" fmla="val 50000"/>
            </a:avLst>
          </a:prstGeom>
          <a:solidFill>
            <a:srgbClr val="E0592A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123176" y="4718304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 standard complet (12 M par labo, UNICEF 2025) : 9,7 Md, soit 33 ×.</a:t>
            </a:r>
            <a:endParaRPr lang="en-US" sz="850" dirty="0"/>
          </a:p>
        </p:txBody>
      </p:sp>
      <p:sp>
        <p:nvSpPr>
          <p:cNvPr id="22" name="Text 18"/>
          <p:cNvSpPr txBox="1"/>
          <p:nvPr/>
        </p:nvSpPr>
        <p:spPr>
          <a:xfrm>
            <a:off x="7123176" y="4956048"/>
            <a:ext cx="2834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VirtuLab · déploiement national (3 ans)</a:t>
            </a:r>
            <a:endParaRPr lang="en-US" sz="950" dirty="0"/>
          </a:p>
        </p:txBody>
      </p:sp>
      <p:sp>
        <p:nvSpPr>
          <p:cNvPr id="23" name="Text 19"/>
          <p:cNvSpPr txBox="1"/>
          <p:nvPr/>
        </p:nvSpPr>
        <p:spPr>
          <a:xfrm>
            <a:off x="9720072" y="4956048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297 M FCFA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7123176" y="5193792"/>
            <a:ext cx="536448" cy="155448"/>
          </a:xfrm>
          <a:prstGeom prst="roundRect">
            <a:avLst>
              <a:gd name="adj" fmla="val 50000"/>
            </a:avLst>
          </a:prstGeom>
          <a:solidFill>
            <a:srgbClr val="DCEBEA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123176" y="541324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8E4D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8 × moins cher</a:t>
            </a:r>
            <a:endParaRPr lang="en-US" sz="2200" dirty="0"/>
          </a:p>
        </p:txBody>
      </p:sp>
      <p:sp>
        <p:nvSpPr>
          <p:cNvPr id="26" name="Text 22"/>
          <p:cNvSpPr txBox="1"/>
          <p:nvPr/>
        </p:nvSpPr>
        <p:spPr>
          <a:xfrm>
            <a:off x="7123176" y="5833872"/>
            <a:ext cx="438912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 il fonctionne là où le courant et le réseau manquent.</a:t>
            </a:r>
            <a:endParaRPr lang="en-US" sz="950" dirty="0"/>
          </a:p>
        </p:txBody>
      </p:sp>
      <p:sp>
        <p:nvSpPr>
          <p:cNvPr id="27" name="Text 23"/>
          <p:cNvSpPr txBox="1"/>
          <p:nvPr/>
        </p:nvSpPr>
        <p:spPr>
          <a:xfrm>
            <a:off x="6903720" y="6199632"/>
            <a:ext cx="4828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Preuve surtout du supérieur : pilote évalué localement avec groupes témoins.</a:t>
            </a:r>
            <a:endParaRPr lang="en-US" sz="900" dirty="0"/>
          </a:p>
        </p:txBody>
      </p:sp>
      <p:sp>
        <p:nvSpPr>
          <p:cNvPr id="28" name="Text 24"/>
          <p:cNvSpPr txBox="1"/>
          <p:nvPr/>
        </p:nvSpPr>
        <p:spPr>
          <a:xfrm>
            <a:off x="457200" y="6419088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Sources : Li et Liang (2024), PLOS ONE ; Labster ; de Jong et al. (2013). Coûts : min. ≈ 3 M/labo (marché togolais) ; standard ≈ 12 M (UNICEF, 2025).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Desk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DÉMONSTRATION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tableau de bord web, avec un TP en situation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Shape 4"/>
          <p:cNvSpPr/>
          <p:nvPr/>
        </p:nvSpPr>
        <p:spPr>
          <a:xfrm>
            <a:off x="402336" y="1719072"/>
            <a:ext cx="11356848" cy="4637865"/>
          </a:xfrm>
          <a:prstGeom prst="roundRect">
            <a:avLst>
              <a:gd name="adj" fmla="val 1577"/>
            </a:avLst>
          </a:prstGeom>
          <a:solidFill>
            <a:srgbClr val="FFFFFF"/>
          </a:solidFill>
          <a:ln w="12700">
            <a:solidFill>
              <a:srgbClr val="EDE8DA"/>
            </a:solidFill>
            <a:prstDash val="solid"/>
          </a:ln>
        </p:spPr>
      </p:sp>
      <p:pic>
        <p:nvPicPr>
          <p:cNvPr id="8" name="Image 1" descr="/home/z/my-project/assets/deck_v2/dash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73936"/>
            <a:ext cx="11247120" cy="452813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6430089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tableau de bord web · TP « Dosage acide-base » en 3e · simulation libre, protocole guidé et quiz-jeu aligné BEPC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HourglassHal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POURQUOI MAINTENANT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fenêtre 2026-2027 est ouverte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1810512"/>
            <a:ext cx="5486400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76656" y="2048256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E7C7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76656" y="204825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225296" y="2029968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réforme est officielle</a:t>
            </a:r>
            <a:endParaRPr lang="en-US" sz="1550" dirty="0"/>
          </a:p>
        </p:txBody>
      </p:sp>
      <p:sp>
        <p:nvSpPr>
          <p:cNvPr id="11" name="Text 8"/>
          <p:cNvSpPr txBox="1"/>
          <p:nvPr/>
        </p:nvSpPr>
        <p:spPr>
          <a:xfrm>
            <a:off x="1225296" y="2523744"/>
            <a:ext cx="44805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 TP sont exigés au collège et au lycée ; les épreuves de BEPC et de bac en traduisent déjà l'exigence.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217920" y="1810512"/>
            <a:ext cx="5486400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437376" y="2048256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E7C7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37376" y="204825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6986016" y="2029968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 bailleurs sont mobilisés</a:t>
            </a:r>
            <a:endParaRPr lang="en-US" sz="1550" dirty="0"/>
          </a:p>
        </p:txBody>
      </p:sp>
      <p:sp>
        <p:nvSpPr>
          <p:cNvPr id="16" name="Text 13"/>
          <p:cNvSpPr txBox="1"/>
          <p:nvPr/>
        </p:nvSpPr>
        <p:spPr>
          <a:xfrm>
            <a:off x="6986016" y="2523744"/>
            <a:ext cx="44805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Programme d'appui documenté avec le GPE depuis 2025 ; l'initiative Giga (UNICEF-UIT) connecte les écoles africaines.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457200" y="3730752"/>
            <a:ext cx="5486400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6656" y="3968496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E7C7B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76656" y="396849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1225296" y="3950208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 précédents existent</a:t>
            </a:r>
            <a:endParaRPr lang="en-US" sz="1550" dirty="0"/>
          </a:p>
        </p:txBody>
      </p:sp>
      <p:sp>
        <p:nvSpPr>
          <p:cNvPr id="21" name="Text 18"/>
          <p:cNvSpPr txBox="1"/>
          <p:nvPr/>
        </p:nvSpPr>
        <p:spPr>
          <a:xfrm>
            <a:off x="1225296" y="4443984"/>
            <a:ext cx="44805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Rwanda : 200 contenus numériques avec le GPE ; PraxiLabs 2e au GR4TE 2026 ; PhET prouve le modèle gratuit depuis 2002.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6217920" y="3730752"/>
            <a:ext cx="5486400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37376" y="3968496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E0592A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437376" y="396849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6986016" y="3950208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place est encore libre</a:t>
            </a:r>
            <a:endParaRPr lang="en-US" sz="1550" dirty="0"/>
          </a:p>
        </p:txBody>
      </p:sp>
      <p:sp>
        <p:nvSpPr>
          <p:cNvPr id="26" name="Text 23"/>
          <p:cNvSpPr txBox="1"/>
          <p:nvPr/>
        </p:nvSpPr>
        <p:spPr>
          <a:xfrm>
            <a:off x="6986016" y="4443984"/>
            <a:ext cx="44805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Aucune plateforme n'aligne le programme togolais TP par TP. Ce sera une équipe togolaise, ou quelqu'un d'autre, sans le Togo.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57200" y="5724144"/>
            <a:ext cx="11247120" cy="530352"/>
          </a:xfrm>
          <a:prstGeom prst="roundRect">
            <a:avLst>
              <a:gd name="adj" fmla="val 15517"/>
            </a:avLst>
          </a:prstGeom>
          <a:solidFill>
            <a:srgbClr val="F8E4D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31520" y="5724144"/>
            <a:ext cx="10698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B843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Chaque année de retard prive des centaines de milliers d'élèves d'une partie de leur formation scientifique.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6419088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Sources : Global Partnership for Education (2024-2025) ; CIO Mag (2025), initiative Giga ; HundrED (2024).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Roc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DÉPLOIEMENT EN TROIS ANS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Chaque phase est conditionnée par la preuve de la précédente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1719072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Établissements couverts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2048256"/>
          <a:ext cx="53949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539496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 1 : pilote  ·  An 2 : extension régionale  ·  An 3 : déploiement national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6263640" y="1755648"/>
            <a:ext cx="5440680" cy="1353312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63640" y="1755648"/>
            <a:ext cx="82296" cy="1353312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501384" y="1865376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A5C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1 · Pilote et preuve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6501384" y="2212848"/>
            <a:ext cx="496519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 simulateurs · 40 établissements volontaires (Maritime, Plateaux, Kara) · 200 enseignants formés · convention-cadre et comité scientifique.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263640" y="3236976"/>
            <a:ext cx="5440680" cy="1353312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63640" y="3236976"/>
            <a:ext cx="82296" cy="1353312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501384" y="3346704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A5C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2 · Extension régionale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6501384" y="3694176"/>
            <a:ext cx="496519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60 simulateurs au total · 300 établissements via les directions régionales · 2 000 enseignants formés · intégration à l'ENT et référentiel arrêté.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263640" y="4718304"/>
            <a:ext cx="5440680" cy="1353312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263640" y="4718304"/>
            <a:ext cx="82296" cy="1353312"/>
          </a:xfrm>
          <a:prstGeom prst="rect">
            <a:avLst/>
          </a:prstGeom>
          <a:solidFill>
            <a:srgbClr val="E0592A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6501384" y="4828032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B843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3 · Déploiement national</a:t>
            </a:r>
            <a:endParaRPr lang="en-US" sz="1350" dirty="0"/>
          </a:p>
        </p:txBody>
      </p:sp>
      <p:sp>
        <p:nvSpPr>
          <p:cNvPr id="21" name="Text 17"/>
          <p:cNvSpPr txBox="1"/>
          <p:nvPr/>
        </p:nvSpPr>
        <p:spPr>
          <a:xfrm>
            <a:off x="6501384" y="5175504"/>
            <a:ext cx="496519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120 simulateurs, catalogue complet · 800 établissements et plus · 8 000 enseignants formés · transfert des compétences techniques au ministère.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Coi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BUDGET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297 millions de FCFA sur trois ans, un récurrent maîtrisé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171907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Budget prévisionnel (millions de FCFA)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2048256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53035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Total programme : 297 M FCFA, soit environ 0,45 million d'euros.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897880" y="1755648"/>
            <a:ext cx="5806440" cy="1316736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135624" y="1865376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A5C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que l'argent construit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6135624" y="2194560"/>
            <a:ext cx="53309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51 % de l'année 1 pour la plateforme et les 20 premiers simulateurs ; plus de la moitié de l'enveloppe triennale va au contenu et à la formation, les deux actifs durables.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897880" y="3218688"/>
            <a:ext cx="5806440" cy="1316736"/>
          </a:xfrm>
          <a:prstGeom prst="roundRect">
            <a:avLst>
              <a:gd name="adj" fmla="val 6944"/>
            </a:avLst>
          </a:prstGeom>
          <a:solidFill>
            <a:srgbClr val="F8E4D9"/>
          </a:solidFill>
          <a:ln w="19050">
            <a:solidFill>
              <a:srgbClr val="E0592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135624" y="3328416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B843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récurrent, prévu dès maintenant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6135624" y="3657600"/>
            <a:ext cx="53309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Dès la quatrième année, l'État prend en charge hébergement et maintenance pour environ 12 M FCFA par an : environ 10 % de la seule formule minimale d'équipement des 40 établissements du pilote.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897880" y="4681728"/>
            <a:ext cx="5806440" cy="1481328"/>
          </a:xfrm>
          <a:prstGeom prst="roundRect">
            <a:avLst>
              <a:gd name="adj" fmla="val 6173"/>
            </a:avLst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135624" y="4791456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montage multi-bailleurs</a:t>
            </a:r>
            <a:endParaRPr lang="en-US" sz="1350" dirty="0"/>
          </a:p>
        </p:txBody>
      </p:sp>
      <p:sp>
        <p:nvSpPr>
          <p:cNvPr id="18" name="Text 14"/>
          <p:cNvSpPr txBox="1"/>
          <p:nvPr/>
        </p:nvSpPr>
        <p:spPr>
          <a:xfrm>
            <a:off x="6135624" y="5120640"/>
            <a:ext cx="5330952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CEBE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État togolais · Partenariat mondial pour l'éducation (GPE) · agences de coopération (AFD, GIZ, UNICEF) · opérateurs télécoms (tarification zéro du trafic) · universités de Lomé et de Kara (comité scientifique).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6419088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Budget prévisionnel de l'équipe · parité de référence : 655,957 FCFA pour un euro.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Chart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L'IMPACT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que le Togo y gagne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1828800"/>
            <a:ext cx="5486400" cy="1956816"/>
          </a:xfrm>
          <a:prstGeom prst="roundRect">
            <a:avLst>
              <a:gd name="adj" fmla="val 4673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1828800"/>
            <a:ext cx="82296" cy="1956816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94944" y="1993392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600 000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694944" y="257860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élèves touchés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694944" y="2889504"/>
            <a:ext cx="497433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accès gratuit et complet aux TP, y compris dans les zones sans électricité ni laboratoire : plus aucun élève examiné sur ce qu'il n'a jamais manipulé.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217920" y="1828800"/>
            <a:ext cx="5486400" cy="1956816"/>
          </a:xfrm>
          <a:prstGeom prst="roundRect">
            <a:avLst>
              <a:gd name="adj" fmla="val 4673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217920" y="1828800"/>
            <a:ext cx="82296" cy="1956816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55664" y="1993392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8 000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6455664" y="257860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enseignants formés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6455664" y="2889504"/>
            <a:ext cx="497433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 séances prêtes à l'emploi et des démonstrations fiables : moins de temps de préparation, une continuité pédagogique assurée même avec les départs d'enseignants.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4023360"/>
            <a:ext cx="5486400" cy="1956816"/>
          </a:xfrm>
          <a:prstGeom prst="roundRect">
            <a:avLst>
              <a:gd name="adj" fmla="val 4673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7200" y="4023360"/>
            <a:ext cx="82296" cy="1956816"/>
          </a:xfrm>
          <a:prstGeom prst="rect">
            <a:avLst/>
          </a:prstGeom>
          <a:solidFill>
            <a:srgbClr val="E0592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94944" y="4187952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059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8 ×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694944" y="477316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moins cher pour l'État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694944" y="5084064"/>
            <a:ext cx="497433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réforme devient exécutable partout pour 297 M FCFA, au lieu d'au moins 2,4 milliards en équipement physique : l'argent public va à l'usage, pas au bâti.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17920" y="4023360"/>
            <a:ext cx="5486400" cy="1956816"/>
          </a:xfrm>
          <a:prstGeom prst="roundRect">
            <a:avLst>
              <a:gd name="adj" fmla="val 4673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217920" y="4023360"/>
            <a:ext cx="82296" cy="1956816"/>
          </a:xfrm>
          <a:prstGeom prst="rect">
            <a:avLst/>
          </a:prstGeom>
          <a:solidFill>
            <a:srgbClr val="E0592A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455664" y="4187952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059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Inédit</a:t>
            </a:r>
            <a:endParaRPr lang="en-US" sz="3000" dirty="0"/>
          </a:p>
        </p:txBody>
      </p:sp>
      <p:sp>
        <p:nvSpPr>
          <p:cNvPr id="25" name="Text 22"/>
          <p:cNvSpPr txBox="1"/>
          <p:nvPr/>
        </p:nvSpPr>
        <p:spPr>
          <a:xfrm>
            <a:off x="6455664" y="477316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piloter sur des données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6455664" y="5084064"/>
            <a:ext cx="497433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Statistiques d'usage agrégées et anonymisées : le ministère voit enfin la pratique réelle des TP et pilote sa politique scientifique sur des faits.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457200" y="6035040"/>
            <a:ext cx="10698480" cy="512064"/>
          </a:xfrm>
          <a:prstGeom prst="roundRect">
            <a:avLst>
              <a:gd name="adj" fmla="val 16071"/>
            </a:avLst>
          </a:prstGeom>
          <a:solidFill>
            <a:srgbClr val="0E7C7B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31520" y="6035040"/>
            <a:ext cx="10149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actif technologique national, réutilisable par d'autres matières : le Togo, référence francophone des TP virtuels.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L'ÉQUIPE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Deux fondateurs, une complémentarité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Shape 4"/>
          <p:cNvSpPr/>
          <p:nvPr/>
        </p:nvSpPr>
        <p:spPr>
          <a:xfrm>
            <a:off x="1933956" y="1828800"/>
            <a:ext cx="416052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pic>
        <p:nvPicPr>
          <p:cNvPr id="8" name="Image 1" descr="/home/z/my-project/assets/deck/team_djab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2121408"/>
            <a:ext cx="1371600" cy="1371600"/>
          </a:xfrm>
          <a:prstGeom prst="ellipse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116836" y="3621024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DJABON Ounimborbititou</a:t>
            </a:r>
            <a:endParaRPr lang="en-US" sz="1550" dirty="0"/>
          </a:p>
        </p:txBody>
      </p:sp>
      <p:sp>
        <p:nvSpPr>
          <p:cNvPr id="10" name="Text 6"/>
          <p:cNvSpPr txBox="1"/>
          <p:nvPr/>
        </p:nvSpPr>
        <p:spPr>
          <a:xfrm>
            <a:off x="2116836" y="4005072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C7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Technologie et simulateurs</a:t>
            </a:r>
            <a:endParaRPr lang="en-US" sz="1250" dirty="0"/>
          </a:p>
        </p:txBody>
      </p:sp>
      <p:sp>
        <p:nvSpPr>
          <p:cNvPr id="11" name="Text 7"/>
          <p:cNvSpPr txBox="1"/>
          <p:nvPr/>
        </p:nvSpPr>
        <p:spPr>
          <a:xfrm>
            <a:off x="2253996" y="4352544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de la plateforme, développement HTML5 des simulateurs, packs hors ligne et données d'usage.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643116" y="1828800"/>
            <a:ext cx="416052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pic>
        <p:nvPicPr>
          <p:cNvPr id="13" name="Image 2" descr="/home/z/my-project/assets/deck/team_rolan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7576" y="2121408"/>
            <a:ext cx="1371600" cy="1371600"/>
          </a:xfrm>
          <a:prstGeom prst="ellipse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825996" y="3621024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HOUNKPE Mawulikpimi Roland</a:t>
            </a:r>
            <a:endParaRPr lang="en-US" sz="1550" dirty="0"/>
          </a:p>
        </p:txBody>
      </p:sp>
      <p:sp>
        <p:nvSpPr>
          <p:cNvPr id="15" name="Text 10"/>
          <p:cNvSpPr txBox="1"/>
          <p:nvPr/>
        </p:nvSpPr>
        <p:spPr>
          <a:xfrm>
            <a:off x="6825996" y="4005072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C7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Pédagogie et partenariats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6963156" y="4352544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Cartographie des TP avec les inspecteurs, comité scientifique, formation des enseignants et partenariats.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979676" y="5614416"/>
            <a:ext cx="8229600" cy="566928"/>
          </a:xfrm>
          <a:prstGeom prst="roundRect">
            <a:avLst>
              <a:gd name="adj" fmla="val 14516"/>
            </a:avLst>
          </a:prstGeom>
          <a:solidFill>
            <a:srgbClr val="DCEBEA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1979676" y="5614416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Partagé : le pilote des 40 établissements, la mesure d'impact et le plaidoyer de financement.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6419088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Ancrage local : Université de Lomé · AIMS Ghana (African Institute for Mathematical Sciences).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5C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z/my-project/assets/deck_v2/water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0" y="3291840"/>
            <a:ext cx="4005072" cy="23682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57200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4" name="Image 1" descr="/home/z/my-project/assets/deck_v2/fa_FaCommen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" y="534924"/>
            <a:ext cx="192024" cy="19202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932688" y="420624"/>
            <a:ext cx="5486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DCEBE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</a:t>
            </a:r>
            <a:endParaRPr lang="en-US" sz="125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896112"/>
            <a:ext cx="9144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Notre demande</a:t>
            </a:r>
            <a:endParaRPr lang="en-US" sz="4000" dirty="0"/>
          </a:p>
        </p:txBody>
      </p:sp>
      <p:sp>
        <p:nvSpPr>
          <p:cNvPr id="7" name="Shape 3"/>
          <p:cNvSpPr/>
          <p:nvPr/>
        </p:nvSpPr>
        <p:spPr>
          <a:xfrm>
            <a:off x="960120" y="2011680"/>
            <a:ext cx="475488" cy="475488"/>
          </a:xfrm>
          <a:prstGeom prst="ellipse">
            <a:avLst/>
          </a:prstGeom>
          <a:solidFill>
            <a:srgbClr val="E0592A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60120" y="201168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1691640" y="1956816"/>
            <a:ext cx="9692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Votre regard critique et votre appui scientifique</a:t>
            </a:r>
            <a:endParaRPr lang="en-US" sz="1850" dirty="0"/>
          </a:p>
        </p:txBody>
      </p:sp>
      <p:sp>
        <p:nvSpPr>
          <p:cNvPr id="10" name="Text 6"/>
          <p:cNvSpPr txBox="1"/>
          <p:nvPr/>
        </p:nvSpPr>
        <p:spPr>
          <a:xfrm>
            <a:off x="1691640" y="2359152"/>
            <a:ext cx="9509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 le concept, le catalogue et le protocole d'évaluation du pilote, en vue du comité scientifique avec l'Université de Lomé et l'Université de Kara.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960120" y="3236976"/>
            <a:ext cx="475488" cy="475488"/>
          </a:xfrm>
          <a:prstGeom prst="ellipse">
            <a:avLst/>
          </a:prstGeom>
          <a:solidFill>
            <a:srgbClr val="E0592A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960120" y="323697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1691640" y="3182112"/>
            <a:ext cx="9692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Une mise en relation au ministère</a:t>
            </a:r>
            <a:endParaRPr lang="en-US" sz="1850" dirty="0"/>
          </a:p>
        </p:txBody>
      </p:sp>
      <p:sp>
        <p:nvSpPr>
          <p:cNvPr id="14" name="Text 10"/>
          <p:cNvSpPr txBox="1"/>
          <p:nvPr/>
        </p:nvSpPr>
        <p:spPr>
          <a:xfrm>
            <a:off x="1691640" y="3584448"/>
            <a:ext cx="9509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nous ne demandons pas que vous financiez, mais que vous ouvriez la porte du ministère pour cadrer le catalogue TP par TP avec les inspecteurs.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960120" y="4462272"/>
            <a:ext cx="475488" cy="475488"/>
          </a:xfrm>
          <a:prstGeom prst="ellipse">
            <a:avLst/>
          </a:prstGeom>
          <a:solidFill>
            <a:srgbClr val="E0592A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960120" y="446227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3"/>
          <p:cNvSpPr txBox="1"/>
          <p:nvPr/>
        </p:nvSpPr>
        <p:spPr>
          <a:xfrm>
            <a:off x="1691640" y="4407408"/>
            <a:ext cx="9692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Vos orientations vers les bons guichets</a:t>
            </a:r>
            <a:endParaRPr lang="en-US" sz="1850" dirty="0"/>
          </a:p>
        </p:txBody>
      </p:sp>
      <p:sp>
        <p:nvSpPr>
          <p:cNvPr id="18" name="Text 14"/>
          <p:cNvSpPr txBox="1"/>
          <p:nvPr/>
        </p:nvSpPr>
        <p:spPr>
          <a:xfrm>
            <a:off x="1691640" y="4809744"/>
            <a:ext cx="9509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GPE, AFD, GIZ, UNICEF : aidez-nous à affiner le montage de 297 M FCFA et à saisir la fenêtre 2026-2027 avant quelqu'un d'autre.</a:t>
            </a:r>
            <a:endParaRPr lang="en-US" sz="1200" dirty="0"/>
          </a:p>
        </p:txBody>
      </p:sp>
      <p:pic>
        <p:nvPicPr>
          <p:cNvPr id="19" name="Image 2" descr="/home/z/my-project/assets/deck_v2/fa_FaPhone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6071616"/>
            <a:ext cx="201168" cy="20116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261872" y="6035040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+228 92 39 97 21   ·   +228 93 21 72 15</a:t>
            </a:r>
            <a:endParaRPr lang="en-US" sz="1100" dirty="0"/>
          </a:p>
        </p:txBody>
      </p:sp>
      <p:pic>
        <p:nvPicPr>
          <p:cNvPr id="21" name="Image 3" descr="/home/z/my-project/assets/deck_v2/fa_FaEnvelop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6455664"/>
            <a:ext cx="201168" cy="20116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261872" y="6419088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djabon@aims.edu.gh   ·   rhounkpe@aims.edu.gh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VirtuLab Togo · Équipe ExamBoost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VirtuLab Togo · Plateforme nationale de travaux pratiques virtuels</dc:title>
  <dc:subject>Présentation de crédibilité scientifique et demande de parrainage</dc:subject>
  <dc:creator>DJABON Ounimborbititou &amp; HOUNKPE Mawulikpimi Roland</dc:creator>
  <cp:lastModifiedBy>DJABON Ounimborbititou &amp; HOUNKPE Mawulikpimi Roland</cp:lastModifiedBy>
  <cp:revision>1</cp:revision>
  <dcterms:created xsi:type="dcterms:W3CDTF">2026-09-08T11:37:53Z</dcterms:created>
  <dcterms:modified xsi:type="dcterms:W3CDTF">2026-09-08T11:37:53Z</dcterms:modified>
</cp:coreProperties>
</file>